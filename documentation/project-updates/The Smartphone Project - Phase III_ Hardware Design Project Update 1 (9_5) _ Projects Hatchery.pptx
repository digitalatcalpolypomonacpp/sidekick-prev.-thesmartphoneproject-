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Playfair Displ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Fira Sans Extra Condensed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SemiBold-boldItalic.fntdata"/><Relationship Id="rId20" Type="http://schemas.openxmlformats.org/officeDocument/2006/relationships/slide" Target="slides/slide14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FiraSansExtraCondensedMedium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FiraSansExtraCondensedMedium-italic.fntdata"/><Relationship Id="rId12" Type="http://schemas.openxmlformats.org/officeDocument/2006/relationships/slide" Target="slides/slide6.xml"/><Relationship Id="rId34" Type="http://schemas.openxmlformats.org/officeDocument/2006/relationships/font" Target="fonts/FiraSansExtraCondensedMedium-bold.fntdata"/><Relationship Id="rId15" Type="http://schemas.openxmlformats.org/officeDocument/2006/relationships/slide" Target="slides/slide9.xml"/><Relationship Id="rId37" Type="http://schemas.openxmlformats.org/officeDocument/2006/relationships/font" Target="fonts/FiraSansExtraCondensedSemiBold-regular.fntdata"/><Relationship Id="rId14" Type="http://schemas.openxmlformats.org/officeDocument/2006/relationships/slide" Target="slides/slide8.xml"/><Relationship Id="rId36" Type="http://schemas.openxmlformats.org/officeDocument/2006/relationships/font" Target="fonts/FiraSansExtraCondensed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FiraSansExtraCondensedSemiBold-italic.fntdata"/><Relationship Id="rId16" Type="http://schemas.openxmlformats.org/officeDocument/2006/relationships/slide" Target="slides/slide10.xml"/><Relationship Id="rId38" Type="http://schemas.openxmlformats.org/officeDocument/2006/relationships/font" Target="fonts/FiraSansExtraCondensedSemiBo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c678af444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c678af44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f17c071ec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2f17c071e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85118fe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885118fe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a880ad4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a880ad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Haptic Motor Driver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Driver is necessary to control haptic motor vibration patterns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works by converting electrical energy into mechanical vibrations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through</a:t>
            </a:r>
            <a:r>
              <a:rPr lang="en">
                <a:solidFill>
                  <a:schemeClr val="dk1"/>
                </a:solidFill>
              </a:rPr>
              <a:t> I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Real-Time Clock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Real-Time Clock counts time by counting the pulses of a stable quartz crystal oscillator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a battery backup to maintain power independently of main power system in case of power off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Microphone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Microphone captures sound waves (analog) and converts them into electrical signals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Multiple microphones are used to overall reduce noise caused by individual noise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a880ad48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7a880ad48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Heat Sensor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Heat Sensor changes resistance (or another property) based on temperature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through I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C peripherals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System Controller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Utilizes microcontroller (STM32G431CBU6) to control enable pins of voltage regulators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FPGA requires its voltage regulators to turn on in a specific sequence (one cannot be turned on until the other is stable)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USB-C receptacle is used to program and communicate to the STM32 MCU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71c21dc5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271c21dc5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●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Programmable Hardware enables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for the AVERAGE PERSON to easily repair of various elements in a PRODUCT </a:t>
            </a:r>
            <a:r>
              <a:rPr lang="en" sz="1400" u="sng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WE</a:t>
            </a: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 OWN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easily assemble/disassemble ALLOWS you to upgrade your perfectly good phone by replacing only the components on the phone that YOU want improved on your phone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○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Ability to make a modular phone, which would allow 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make your phone distinctly YOURS (not an identical slab to everyone else)</a:t>
            </a:r>
            <a:endParaRPr sz="14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ckwell"/>
              <a:buChar char="■"/>
            </a:pPr>
            <a:r>
              <a:rPr lang="en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YOU to decide what are important features to you and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85eaa5b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85eaa5b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Haptic Motor Driver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Driver is necessary to control haptic motor vibration patterns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Haptic Motor works by converting electrical energy into mechanical vibrations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through I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Real-Time Clock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Real-Time Clock counts time by counting the pulses of a stable quartz crystal oscillator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a battery backup to maintain power independently of main power system in case of power off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Microphone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Microphone captures sound waves (analog) and converts them into electrical signals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Multiple microphones are used to overall reduce noise caused by individual noise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Communicates through I</a:t>
            </a:r>
            <a:r>
              <a:rPr baseline="30000" lang="en"/>
              <a:t>2</a:t>
            </a:r>
            <a:r>
              <a:rPr lang="en"/>
              <a:t>C peripherals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85eaa5b7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85eaa5b7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Project Definition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Consumer Need: </a:t>
            </a:r>
            <a:r>
              <a:rPr lang="en" sz="1500" u="sng">
                <a:solidFill>
                  <a:schemeClr val="dk1"/>
                </a:solidFill>
              </a:rPr>
              <a:t>Fast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user-friendly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authentication</a:t>
            </a:r>
            <a:r>
              <a:rPr lang="en" sz="1500">
                <a:solidFill>
                  <a:schemeClr val="dk1"/>
                </a:solidFill>
              </a:rPr>
              <a:t> → convenience and privacy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Feature: Allow users to unlock the device and verify their identity with a single touch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Purpose: </a:t>
            </a:r>
            <a:r>
              <a:rPr lang="en" sz="1500" u="sng">
                <a:solidFill>
                  <a:schemeClr val="dk1"/>
                </a:solidFill>
              </a:rPr>
              <a:t>Personal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Modern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the type of Fingerprint Sensor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how the phone will communicate with these sensors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then found the sensor, implemented the schematic, then converted that schematic to a 3D modeled version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85eaa5b7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885eaa5b7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Project Definition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Consumer Need: </a:t>
            </a:r>
            <a:r>
              <a:rPr lang="en" sz="1500" u="sng">
                <a:solidFill>
                  <a:schemeClr val="dk1"/>
                </a:solidFill>
              </a:rPr>
              <a:t>Fast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user-friendly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authentication</a:t>
            </a:r>
            <a:r>
              <a:rPr lang="en" sz="1500">
                <a:solidFill>
                  <a:schemeClr val="dk1"/>
                </a:solidFill>
              </a:rPr>
              <a:t> → convenience and privacy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Feature: Allow users to unlock the device and verify their identity with a single touch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Purpose: </a:t>
            </a:r>
            <a:r>
              <a:rPr lang="en" sz="1500" u="sng">
                <a:solidFill>
                  <a:schemeClr val="dk1"/>
                </a:solidFill>
              </a:rPr>
              <a:t>Personal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Modern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the type of Fingerprint Sensor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how the phone will communicate with these sensors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then found the sensor, implemented the schematic, then converted that schematic to a 3D modeled version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da023c24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2da023c24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u="sng">
                <a:solidFill>
                  <a:schemeClr val="dk1"/>
                </a:solidFill>
              </a:rPr>
              <a:t>Project Definition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Consumer Need: </a:t>
            </a:r>
            <a:r>
              <a:rPr lang="en" sz="1500" u="sng">
                <a:solidFill>
                  <a:schemeClr val="dk1"/>
                </a:solidFill>
              </a:rPr>
              <a:t>Fast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user-friendly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authentication</a:t>
            </a:r>
            <a:r>
              <a:rPr lang="en" sz="1500">
                <a:solidFill>
                  <a:schemeClr val="dk1"/>
                </a:solidFill>
              </a:rPr>
              <a:t> → convenience and privacy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Feature: Allow users to unlock the device and verify their identity with a single touch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Purpose: </a:t>
            </a:r>
            <a:r>
              <a:rPr lang="en" sz="1500" u="sng">
                <a:solidFill>
                  <a:schemeClr val="dk1"/>
                </a:solidFill>
              </a:rPr>
              <a:t>Personal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Modern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the type of Fingerprint Sensor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how the phone will communicate with these sensors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then found the sensor, implemented the schematic, then converted that schematic to a 3D modeled version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85eaa5b7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885eaa5b7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Project Definition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Consumer Need: </a:t>
            </a:r>
            <a:r>
              <a:rPr lang="en" sz="1500" u="sng">
                <a:solidFill>
                  <a:schemeClr val="dk1"/>
                </a:solidFill>
              </a:rPr>
              <a:t>Fast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user-friendly</a:t>
            </a:r>
            <a:r>
              <a:rPr lang="en" sz="1500">
                <a:solidFill>
                  <a:schemeClr val="dk1"/>
                </a:solidFill>
              </a:rPr>
              <a:t> </a:t>
            </a:r>
            <a:r>
              <a:rPr lang="en" sz="1500" u="sng">
                <a:solidFill>
                  <a:schemeClr val="dk1"/>
                </a:solidFill>
              </a:rPr>
              <a:t>authentication</a:t>
            </a:r>
            <a:r>
              <a:rPr lang="en" sz="1500">
                <a:solidFill>
                  <a:schemeClr val="dk1"/>
                </a:solidFill>
              </a:rPr>
              <a:t> → convenience and privacy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Feature: Allow users to unlock the device and verify their identity with a single touch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Purpose: </a:t>
            </a:r>
            <a:r>
              <a:rPr lang="en" sz="1500" u="sng">
                <a:solidFill>
                  <a:schemeClr val="dk1"/>
                </a:solidFill>
              </a:rPr>
              <a:t>Personal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lang="en" sz="1500" u="sng">
                <a:solidFill>
                  <a:schemeClr val="dk1"/>
                </a:solidFill>
              </a:rPr>
              <a:t>Modern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lang="en" sz="1500" u="sng">
                <a:solidFill>
                  <a:schemeClr val="dk1"/>
                </a:solidFill>
              </a:rPr>
              <a:t>Secure</a:t>
            </a:r>
            <a:endParaRPr sz="1500" u="sng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the type of Fingerprint Sensor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Determined how the phone will communicate with these sensors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We then found the sensor, implemented the schematic, then converted that schematic to a 3D modeled version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f39b6ebcb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1f39b6ebcb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7a65a559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87a65a559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7a65a559f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7a65a559f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ong text">
  <p:cSld name="CUSTOM_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3"/>
          <p:cNvGrpSpPr/>
          <p:nvPr/>
        </p:nvGrpSpPr>
        <p:grpSpPr>
          <a:xfrm>
            <a:off x="-2134953" y="-2232526"/>
            <a:ext cx="13005666" cy="9144743"/>
            <a:chOff x="-2134953" y="-2232526"/>
            <a:chExt cx="13005666" cy="9144743"/>
          </a:xfrm>
        </p:grpSpPr>
        <p:sp>
          <p:nvSpPr>
            <p:cNvPr id="57" name="Google Shape;57;p13"/>
            <p:cNvSpPr/>
            <p:nvPr/>
          </p:nvSpPr>
          <p:spPr>
            <a:xfrm rot="1514180">
              <a:off x="7764459" y="-1823388"/>
              <a:ext cx="2508827" cy="2633723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 rot="1514383">
              <a:off x="-1786388" y="4539304"/>
              <a:ext cx="1913798" cy="2063379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 rot="1514383">
              <a:off x="-1156102" y="4179892"/>
              <a:ext cx="1866179" cy="2262738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 rot="1514383">
              <a:off x="-1432077" y="4117600"/>
              <a:ext cx="2157231" cy="22646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 rot="1430415">
              <a:off x="8011433" y="-1439033"/>
              <a:ext cx="2205009" cy="2377351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 rot="1430415">
              <a:off x="8285431" y="-1252560"/>
              <a:ext cx="2150144" cy="2607045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625650" y="1087175"/>
            <a:ext cx="76899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996975" y="539500"/>
            <a:ext cx="5150100" cy="4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67" name="Google Shape;67;p14"/>
          <p:cNvGrpSpPr/>
          <p:nvPr/>
        </p:nvGrpSpPr>
        <p:grpSpPr>
          <a:xfrm>
            <a:off x="-3621963" y="-1003613"/>
            <a:ext cx="14748864" cy="9515698"/>
            <a:chOff x="-3621963" y="-1003613"/>
            <a:chExt cx="14748864" cy="9515698"/>
          </a:xfrm>
        </p:grpSpPr>
        <p:sp>
          <p:nvSpPr>
            <p:cNvPr id="68" name="Google Shape;68;p14"/>
            <p:cNvSpPr/>
            <p:nvPr/>
          </p:nvSpPr>
          <p:spPr>
            <a:xfrm>
              <a:off x="-2981249" y="4185615"/>
              <a:ext cx="3844172" cy="4035545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 rot="5114100">
              <a:off x="8678084" y="-994810"/>
              <a:ext cx="2215747" cy="2388928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 rot="5114100">
              <a:off x="8650417" y="-715298"/>
              <a:ext cx="2160615" cy="2619741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 rot="5114100">
              <a:off x="8467940" y="-882708"/>
              <a:ext cx="2497588" cy="2621924"/>
            </a:xfrm>
            <a:custGeom>
              <a:rect b="b" l="l" r="r" t="t"/>
              <a:pathLst>
                <a:path extrusionOk="0" h="99680" w="94953">
                  <a:moveTo>
                    <a:pt x="39160" y="99680"/>
                  </a:moveTo>
                  <a:lnTo>
                    <a:pt x="39088" y="99549"/>
                  </a:lnTo>
                  <a:lnTo>
                    <a:pt x="0" y="29707"/>
                  </a:lnTo>
                  <a:lnTo>
                    <a:pt x="131" y="29671"/>
                  </a:lnTo>
                  <a:lnTo>
                    <a:pt x="94857" y="1"/>
                  </a:lnTo>
                  <a:lnTo>
                    <a:pt x="94952" y="41887"/>
                  </a:lnTo>
                  <a:lnTo>
                    <a:pt x="94929" y="41923"/>
                  </a:lnTo>
                  <a:close/>
                  <a:moveTo>
                    <a:pt x="322" y="29838"/>
                  </a:moveTo>
                  <a:lnTo>
                    <a:pt x="39207" y="99311"/>
                  </a:lnTo>
                  <a:lnTo>
                    <a:pt x="94738" y="41792"/>
                  </a:lnTo>
                  <a:lnTo>
                    <a:pt x="94631" y="299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 rot="1430265">
              <a:off x="-3029963" y="3507636"/>
              <a:ext cx="3378707" cy="3642785"/>
            </a:xfrm>
            <a:custGeom>
              <a:rect b="b" l="l" r="r" t="t"/>
              <a:pathLst>
                <a:path extrusionOk="0" h="90822" w="84238">
                  <a:moveTo>
                    <a:pt x="15348" y="90821"/>
                  </a:moveTo>
                  <a:lnTo>
                    <a:pt x="15312" y="90726"/>
                  </a:lnTo>
                  <a:lnTo>
                    <a:pt x="1" y="51566"/>
                  </a:lnTo>
                  <a:lnTo>
                    <a:pt x="45197" y="8501"/>
                  </a:lnTo>
                  <a:lnTo>
                    <a:pt x="45221" y="8501"/>
                  </a:lnTo>
                  <a:lnTo>
                    <a:pt x="76868" y="0"/>
                  </a:lnTo>
                  <a:lnTo>
                    <a:pt x="84238" y="19110"/>
                  </a:lnTo>
                  <a:lnTo>
                    <a:pt x="84238" y="19146"/>
                  </a:lnTo>
                  <a:lnTo>
                    <a:pt x="74486" y="79701"/>
                  </a:lnTo>
                  <a:lnTo>
                    <a:pt x="74403" y="79713"/>
                  </a:lnTo>
                  <a:close/>
                  <a:moveTo>
                    <a:pt x="275" y="51626"/>
                  </a:moveTo>
                  <a:lnTo>
                    <a:pt x="15491" y="90559"/>
                  </a:lnTo>
                  <a:lnTo>
                    <a:pt x="74284" y="79510"/>
                  </a:lnTo>
                  <a:lnTo>
                    <a:pt x="84011" y="19134"/>
                  </a:lnTo>
                  <a:lnTo>
                    <a:pt x="76737" y="262"/>
                  </a:lnTo>
                  <a:lnTo>
                    <a:pt x="45304" y="8704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 rot="1430265">
              <a:off x="-2686314" y="4021970"/>
              <a:ext cx="3294638" cy="3994742"/>
            </a:xfrm>
            <a:custGeom>
              <a:rect b="b" l="l" r="r" t="t"/>
              <a:pathLst>
                <a:path extrusionOk="0" h="99597" w="82142">
                  <a:moveTo>
                    <a:pt x="26433" y="99596"/>
                  </a:moveTo>
                  <a:lnTo>
                    <a:pt x="26361" y="99549"/>
                  </a:lnTo>
                  <a:lnTo>
                    <a:pt x="1" y="83523"/>
                  </a:lnTo>
                  <a:lnTo>
                    <a:pt x="36" y="83439"/>
                  </a:lnTo>
                  <a:lnTo>
                    <a:pt x="29897" y="1286"/>
                  </a:lnTo>
                  <a:lnTo>
                    <a:pt x="29969" y="1286"/>
                  </a:lnTo>
                  <a:lnTo>
                    <a:pt x="82142" y="1"/>
                  </a:lnTo>
                  <a:lnTo>
                    <a:pt x="82094" y="144"/>
                  </a:lnTo>
                  <a:lnTo>
                    <a:pt x="59199" y="72462"/>
                  </a:lnTo>
                  <a:lnTo>
                    <a:pt x="59175" y="72474"/>
                  </a:lnTo>
                  <a:close/>
                  <a:moveTo>
                    <a:pt x="274" y="83428"/>
                  </a:moveTo>
                  <a:lnTo>
                    <a:pt x="26421" y="99322"/>
                  </a:lnTo>
                  <a:lnTo>
                    <a:pt x="59008" y="72331"/>
                  </a:lnTo>
                  <a:lnTo>
                    <a:pt x="81832" y="227"/>
                  </a:lnTo>
                  <a:lnTo>
                    <a:pt x="30040" y="1501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5000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504825" y="1477575"/>
            <a:ext cx="5199300" cy="18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504825" y="3325425"/>
            <a:ext cx="39054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504750" y="342900"/>
            <a:ext cx="8134500" cy="1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4" name="Google Shape;104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Relationship Id="rId4" Type="http://schemas.openxmlformats.org/officeDocument/2006/relationships/image" Target="../media/image16.jpg"/><Relationship Id="rId5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20.jpg"/><Relationship Id="rId5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7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121" name="Google Shape;121;p27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27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441925" y="2639625"/>
            <a:ext cx="5372100" cy="34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8761D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Building a Smartphone From Scratch</a:t>
            </a:r>
            <a:endParaRPr sz="2400">
              <a:solidFill>
                <a:srgbClr val="38761D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" name="Google Shape;143;p27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7"/>
          <p:cNvSpPr txBox="1"/>
          <p:nvPr>
            <p:ph type="ctrTitle"/>
          </p:nvPr>
        </p:nvSpPr>
        <p:spPr>
          <a:xfrm>
            <a:off x="441925" y="1629975"/>
            <a:ext cx="51993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The Smartphone Project</a:t>
            </a:r>
            <a:endParaRPr sz="4400"/>
          </a:p>
        </p:txBody>
      </p:sp>
      <p:sp>
        <p:nvSpPr>
          <p:cNvPr id="145" name="Google Shape;145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7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7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150" name="Google Shape;150;p27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504750" y="11975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Short and Concise SMART Goals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414900" y="669350"/>
            <a:ext cx="8314200" cy="21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Build a fully functional smartphone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Prove that learning to build a smartphone from scratch doesn’t have to be a mystery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59" name="Google Shape;159;p28"/>
          <p:cNvGrpSpPr/>
          <p:nvPr/>
        </p:nvGrpSpPr>
        <p:grpSpPr>
          <a:xfrm rot="-5400000">
            <a:off x="3115306" y="487149"/>
            <a:ext cx="2752198" cy="5619268"/>
            <a:chOff x="5812139" y="178733"/>
            <a:chExt cx="2344092" cy="4786022"/>
          </a:xfrm>
        </p:grpSpPr>
        <p:sp>
          <p:nvSpPr>
            <p:cNvPr id="160" name="Google Shape;160;p28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07350" lIns="107350" spcFirstLastPara="1" rIns="107350" wrap="square" tIns="107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28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/>
          <p:nvPr/>
        </p:nvSpPr>
        <p:spPr>
          <a:xfrm rot="-5400000">
            <a:off x="5256968" y="2990275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6084085" y="2978078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</a:t>
            </a:r>
            <a:endParaRPr sz="12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83" name="Google Shape;183;p28"/>
          <p:cNvGrpSpPr/>
          <p:nvPr/>
        </p:nvGrpSpPr>
        <p:grpSpPr>
          <a:xfrm>
            <a:off x="6184017" y="2253143"/>
            <a:ext cx="459329" cy="460067"/>
            <a:chOff x="1379065" y="3291711"/>
            <a:chExt cx="340168" cy="340186"/>
          </a:xfrm>
        </p:grpSpPr>
        <p:sp>
          <p:nvSpPr>
            <p:cNvPr id="184" name="Google Shape;184;p28"/>
            <p:cNvSpPr/>
            <p:nvPr/>
          </p:nvSpPr>
          <p:spPr>
            <a:xfrm>
              <a:off x="1379065" y="3291711"/>
              <a:ext cx="340168" cy="340186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1439547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1519269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1598991" y="3293481"/>
              <a:ext cx="59760" cy="199964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88" name="Google Shape;188;p28"/>
          <p:cNvSpPr/>
          <p:nvPr/>
        </p:nvSpPr>
        <p:spPr>
          <a:xfrm rot="-5400000">
            <a:off x="4328942" y="2990241"/>
            <a:ext cx="2273100" cy="618900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5155995" y="2978078"/>
            <a:ext cx="6189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</a:t>
            </a:r>
            <a:endParaRPr sz="12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0" name="Google Shape;190;p28"/>
          <p:cNvGrpSpPr/>
          <p:nvPr/>
        </p:nvGrpSpPr>
        <p:grpSpPr>
          <a:xfrm>
            <a:off x="5211439" y="2280936"/>
            <a:ext cx="459307" cy="404328"/>
            <a:chOff x="2081650" y="2050750"/>
            <a:chExt cx="483125" cy="424625"/>
          </a:xfrm>
        </p:grpSpPr>
        <p:sp>
          <p:nvSpPr>
            <p:cNvPr id="191" name="Google Shape;191;p28"/>
            <p:cNvSpPr/>
            <p:nvPr/>
          </p:nvSpPr>
          <p:spPr>
            <a:xfrm>
              <a:off x="2081650" y="2050750"/>
              <a:ext cx="483125" cy="424625"/>
            </a:xfrm>
            <a:custGeom>
              <a:rect b="b" l="l" r="r" t="t"/>
              <a:pathLst>
                <a:path extrusionOk="0" h="16985" w="19325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2136375" y="2292025"/>
              <a:ext cx="36400" cy="41975"/>
            </a:xfrm>
            <a:custGeom>
              <a:rect b="b" l="l" r="r" t="t"/>
              <a:pathLst>
                <a:path extrusionOk="0" h="1679" w="1456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2296850" y="2220800"/>
              <a:ext cx="46075" cy="51650"/>
            </a:xfrm>
            <a:custGeom>
              <a:rect b="b" l="l" r="r" t="t"/>
              <a:pathLst>
                <a:path extrusionOk="0" h="2066" w="1843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2158650" y="2216775"/>
              <a:ext cx="47275" cy="51425"/>
            </a:xfrm>
            <a:custGeom>
              <a:rect b="b" l="l" r="r" t="t"/>
              <a:pathLst>
                <a:path extrusionOk="0" h="2057" w="1891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2426475" y="2255725"/>
              <a:ext cx="55875" cy="46900"/>
            </a:xfrm>
            <a:custGeom>
              <a:rect b="b" l="l" r="r" t="t"/>
              <a:pathLst>
                <a:path extrusionOk="0" h="1876" w="2235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2473050" y="2192325"/>
              <a:ext cx="37000" cy="41500"/>
            </a:xfrm>
            <a:custGeom>
              <a:rect b="b" l="l" r="r" t="t"/>
              <a:pathLst>
                <a:path extrusionOk="0" h="1660" w="148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97" name="Google Shape;197;p28"/>
          <p:cNvSpPr/>
          <p:nvPr/>
        </p:nvSpPr>
        <p:spPr>
          <a:xfrm rot="-5400000">
            <a:off x="2567766" y="2990442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8"/>
          <p:cNvSpPr txBox="1"/>
          <p:nvPr/>
        </p:nvSpPr>
        <p:spPr>
          <a:xfrm>
            <a:off x="3383054" y="2993326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</a:t>
            </a:r>
            <a:endParaRPr sz="20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9" name="Google Shape;199;p28"/>
          <p:cNvGrpSpPr/>
          <p:nvPr/>
        </p:nvGrpSpPr>
        <p:grpSpPr>
          <a:xfrm>
            <a:off x="3511618" y="2266557"/>
            <a:ext cx="436918" cy="433084"/>
            <a:chOff x="3282325" y="2035675"/>
            <a:chExt cx="459575" cy="454825"/>
          </a:xfrm>
        </p:grpSpPr>
        <p:sp>
          <p:nvSpPr>
            <p:cNvPr id="200" name="Google Shape;200;p28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4" name="Google Shape;204;p28"/>
          <p:cNvSpPr/>
          <p:nvPr/>
        </p:nvSpPr>
        <p:spPr>
          <a:xfrm rot="-5400000">
            <a:off x="3404866" y="2978509"/>
            <a:ext cx="2273100" cy="618900"/>
          </a:xfrm>
          <a:prstGeom prst="rect">
            <a:avLst/>
          </a:prstGeom>
          <a:noFill/>
          <a:ln cap="flat" cmpd="sng" w="190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4231818" y="3001779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41B4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</a:t>
            </a:r>
            <a:endParaRPr sz="1200">
              <a:solidFill>
                <a:srgbClr val="741B47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4314144" y="2235322"/>
            <a:ext cx="446164" cy="428276"/>
          </a:xfrm>
          <a:custGeom>
            <a:rect b="b" l="l" r="r" t="t"/>
            <a:pathLst>
              <a:path extrusionOk="0" h="17991" w="18772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rgbClr val="7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207" name="Google Shape;207;p28"/>
          <p:cNvSpPr/>
          <p:nvPr/>
        </p:nvSpPr>
        <p:spPr>
          <a:xfrm rot="-5400000">
            <a:off x="1744625" y="2990442"/>
            <a:ext cx="2273100" cy="5949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/>
        </p:nvSpPr>
        <p:spPr>
          <a:xfrm>
            <a:off x="2559609" y="2990250"/>
            <a:ext cx="618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</a:t>
            </a:r>
            <a:endParaRPr sz="20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09" name="Google Shape;209;p28"/>
          <p:cNvGrpSpPr/>
          <p:nvPr/>
        </p:nvGrpSpPr>
        <p:grpSpPr>
          <a:xfrm>
            <a:off x="2623775" y="2226408"/>
            <a:ext cx="513404" cy="513562"/>
            <a:chOff x="5053900" y="2021500"/>
            <a:chExt cx="483750" cy="483125"/>
          </a:xfrm>
        </p:grpSpPr>
        <p:sp>
          <p:nvSpPr>
            <p:cNvPr id="210" name="Google Shape;210;p28"/>
            <p:cNvSpPr/>
            <p:nvPr/>
          </p:nvSpPr>
          <p:spPr>
            <a:xfrm>
              <a:off x="5281350" y="2078100"/>
              <a:ext cx="127375" cy="127350"/>
            </a:xfrm>
            <a:custGeom>
              <a:rect b="b" l="l" r="r" t="t"/>
              <a:pathLst>
                <a:path extrusionOk="0" h="5094" w="5095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" name="Google Shape;211;p28"/>
            <p:cNvSpPr/>
            <p:nvPr/>
          </p:nvSpPr>
          <p:spPr>
            <a:xfrm>
              <a:off x="5118000" y="2021500"/>
              <a:ext cx="368700" cy="483125"/>
            </a:xfrm>
            <a:custGeom>
              <a:rect b="b" l="l" r="r" t="t"/>
              <a:pathLst>
                <a:path extrusionOk="0" h="19325" w="14748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50539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>
              <a:off x="5056850" y="2096550"/>
              <a:ext cx="50750" cy="48025"/>
            </a:xfrm>
            <a:custGeom>
              <a:rect b="b" l="l" r="r" t="t"/>
              <a:pathLst>
                <a:path extrusionOk="0" h="1921" w="203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5056400" y="2266400"/>
              <a:ext cx="51200" cy="48350"/>
            </a:xfrm>
            <a:custGeom>
              <a:rect b="b" l="l" r="r" t="t"/>
              <a:pathLst>
                <a:path extrusionOk="0" h="1934" w="2048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5" name="Google Shape;215;p28"/>
            <p:cNvSpPr/>
            <p:nvPr/>
          </p:nvSpPr>
          <p:spPr>
            <a:xfrm>
              <a:off x="5480400" y="2191325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5479800" y="209655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5483350" y="2266400"/>
              <a:ext cx="54300" cy="48225"/>
            </a:xfrm>
            <a:custGeom>
              <a:rect b="b" l="l" r="r" t="t"/>
              <a:pathLst>
                <a:path extrusionOk="0" h="1929" w="2172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9"/>
          <p:cNvGrpSpPr/>
          <p:nvPr/>
        </p:nvGrpSpPr>
        <p:grpSpPr>
          <a:xfrm rot="-5400000">
            <a:off x="2474674" y="-1320393"/>
            <a:ext cx="4101458" cy="8374102"/>
            <a:chOff x="5812139" y="178733"/>
            <a:chExt cx="2344092" cy="4786022"/>
          </a:xfrm>
        </p:grpSpPr>
        <p:sp>
          <p:nvSpPr>
            <p:cNvPr id="223" name="Google Shape;223;p29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59950" lIns="159950" spcFirstLastPara="1" rIns="159950" wrap="square" tIns="159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9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Disclaimer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821750" y="2857637"/>
            <a:ext cx="7767900" cy="216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●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We have multiple teams working on different aspects of the phone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 Extra Condensed Medium"/>
              <a:buChar char="○"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For the sake of simplicity, we will keep this presentation for the… </a:t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43" name="Google Shape;243;p29"/>
          <p:cNvSpPr txBox="1"/>
          <p:nvPr>
            <p:ph idx="4294967295" type="ctrTitle"/>
          </p:nvPr>
        </p:nvSpPr>
        <p:spPr>
          <a:xfrm>
            <a:off x="3233529" y="3797812"/>
            <a:ext cx="5264100" cy="10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rgbClr val="38761D"/>
                </a:solidFill>
              </a:rPr>
              <a:t>…Hardware Design Team</a:t>
            </a:r>
            <a:endParaRPr sz="4400">
              <a:solidFill>
                <a:srgbClr val="38761D"/>
              </a:solidFill>
            </a:endParaRPr>
          </a:p>
        </p:txBody>
      </p:sp>
      <p:pic>
        <p:nvPicPr>
          <p:cNvPr id="244" name="Google Shape;244;p29" title="Screenshot 2025-08-07 093738.png"/>
          <p:cNvPicPr preferRelativeResize="0"/>
          <p:nvPr/>
        </p:nvPicPr>
        <p:blipFill rotWithShape="1">
          <a:blip r:embed="rId3">
            <a:alphaModFix/>
          </a:blip>
          <a:srcRect b="52933" l="5620" r="2704" t="13271"/>
          <a:stretch/>
        </p:blipFill>
        <p:spPr>
          <a:xfrm>
            <a:off x="930462" y="1114600"/>
            <a:ext cx="5112900" cy="105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 title="Screenshot 2025-08-07 093738.png"/>
          <p:cNvPicPr preferRelativeResize="0"/>
          <p:nvPr/>
        </p:nvPicPr>
        <p:blipFill rotWithShape="1">
          <a:blip r:embed="rId3">
            <a:alphaModFix/>
          </a:blip>
          <a:srcRect b="3603" l="37605" r="1888" t="62602"/>
          <a:stretch/>
        </p:blipFill>
        <p:spPr>
          <a:xfrm>
            <a:off x="2965599" y="2172999"/>
            <a:ext cx="3212805" cy="100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 title="Screenshot 2025-08-07 093738.png"/>
          <p:cNvPicPr preferRelativeResize="0"/>
          <p:nvPr/>
        </p:nvPicPr>
        <p:blipFill rotWithShape="1">
          <a:blip r:embed="rId3">
            <a:alphaModFix/>
          </a:blip>
          <a:srcRect b="0" l="26065" r="95312" t="53889"/>
          <a:stretch/>
        </p:blipFill>
        <p:spPr>
          <a:xfrm flipH="1">
            <a:off x="6227425" y="1196875"/>
            <a:ext cx="1637778" cy="19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Quick Look at the Hardware Projects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136000" y="1192850"/>
            <a:ext cx="3381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Haptic Motor Driver [PCB Layout]</a:t>
            </a:r>
            <a:endParaRPr sz="1200"/>
          </a:p>
        </p:txBody>
      </p:sp>
      <p:sp>
        <p:nvSpPr>
          <p:cNvPr id="253" name="Google Shape;253;p30"/>
          <p:cNvSpPr txBox="1"/>
          <p:nvPr/>
        </p:nvSpPr>
        <p:spPr>
          <a:xfrm>
            <a:off x="3649948" y="1192850"/>
            <a:ext cx="2577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Real-Time Clock [3D Model]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6601373" y="1192850"/>
            <a:ext cx="240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Microphone</a:t>
            </a: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[3D Model]</a:t>
            </a:r>
            <a:endParaRPr sz="1200"/>
          </a:p>
        </p:txBody>
      </p:sp>
      <p:sp>
        <p:nvSpPr>
          <p:cNvPr id="255" name="Google Shape;255;p30"/>
          <p:cNvSpPr txBox="1"/>
          <p:nvPr/>
        </p:nvSpPr>
        <p:spPr>
          <a:xfrm>
            <a:off x="136000" y="3864775"/>
            <a:ext cx="337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Creates Controlled Vibrations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3649950" y="3864775"/>
            <a:ext cx="257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Keeps Track of Time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6597100" y="3864775"/>
            <a:ext cx="240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Captures Audio Input</a:t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258" name="Google Shape;258;p30"/>
          <p:cNvGrpSpPr/>
          <p:nvPr/>
        </p:nvGrpSpPr>
        <p:grpSpPr>
          <a:xfrm>
            <a:off x="6588833" y="1627650"/>
            <a:ext cx="2498042" cy="2237126"/>
            <a:chOff x="6588833" y="1627650"/>
            <a:chExt cx="2498042" cy="2237126"/>
          </a:xfrm>
        </p:grpSpPr>
        <p:pic>
          <p:nvPicPr>
            <p:cNvPr id="259" name="Google Shape;259;p30" title="Microphon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8833" y="1627650"/>
              <a:ext cx="2419166" cy="22371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0"/>
            <p:cNvSpPr/>
            <p:nvPr/>
          </p:nvSpPr>
          <p:spPr>
            <a:xfrm>
              <a:off x="7697725" y="2597335"/>
              <a:ext cx="701100" cy="703800"/>
            </a:xfrm>
            <a:prstGeom prst="ellipse">
              <a:avLst/>
            </a:prstGeom>
            <a:noFill/>
            <a:ln cap="flat" cmpd="sng" w="762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30"/>
            <p:cNvSpPr txBox="1"/>
            <p:nvPr/>
          </p:nvSpPr>
          <p:spPr>
            <a:xfrm>
              <a:off x="8028475" y="3301125"/>
              <a:ext cx="10584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F00"/>
                  </a:solidFill>
                  <a:latin typeface="Roboto"/>
                  <a:ea typeface="Roboto"/>
                  <a:cs typeface="Roboto"/>
                  <a:sym typeface="Roboto"/>
                </a:rPr>
                <a:t>x2 Microphones</a:t>
              </a:r>
              <a:endParaRPr b="1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2" name="Google Shape;262;p30"/>
          <p:cNvGrpSpPr/>
          <p:nvPr/>
        </p:nvGrpSpPr>
        <p:grpSpPr>
          <a:xfrm>
            <a:off x="3649944" y="1639239"/>
            <a:ext cx="2707587" cy="2225537"/>
            <a:chOff x="3649944" y="1639239"/>
            <a:chExt cx="2707587" cy="2225537"/>
          </a:xfrm>
        </p:grpSpPr>
        <p:pic>
          <p:nvPicPr>
            <p:cNvPr id="263" name="Google Shape;263;p30" title="RTC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49944" y="1639239"/>
              <a:ext cx="2586637" cy="2225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30"/>
            <p:cNvSpPr/>
            <p:nvPr/>
          </p:nvSpPr>
          <p:spPr>
            <a:xfrm>
              <a:off x="4916425" y="2356210"/>
              <a:ext cx="701100" cy="703800"/>
            </a:xfrm>
            <a:prstGeom prst="ellipse">
              <a:avLst/>
            </a:prstGeom>
            <a:noFill/>
            <a:ln cap="flat" cmpd="sng" w="762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30"/>
            <p:cNvSpPr txBox="1"/>
            <p:nvPr/>
          </p:nvSpPr>
          <p:spPr>
            <a:xfrm>
              <a:off x="5013231" y="3086488"/>
              <a:ext cx="1344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F00"/>
                  </a:solidFill>
                  <a:latin typeface="Roboto"/>
                  <a:ea typeface="Roboto"/>
                  <a:cs typeface="Roboto"/>
                  <a:sym typeface="Roboto"/>
                </a:rPr>
                <a:t>Real-Time Clock Pads</a:t>
              </a:r>
              <a:endParaRPr b="1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6" name="Google Shape;266;p30"/>
          <p:cNvGrpSpPr/>
          <p:nvPr/>
        </p:nvGrpSpPr>
        <p:grpSpPr>
          <a:xfrm>
            <a:off x="136000" y="1627650"/>
            <a:ext cx="3523375" cy="2237124"/>
            <a:chOff x="136000" y="1627650"/>
            <a:chExt cx="3523375" cy="2237124"/>
          </a:xfrm>
        </p:grpSpPr>
        <p:pic>
          <p:nvPicPr>
            <p:cNvPr id="267" name="Google Shape;267;p30" title="Haptic_Motor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6000" y="1627650"/>
              <a:ext cx="3391295" cy="22371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30"/>
            <p:cNvSpPr/>
            <p:nvPr/>
          </p:nvSpPr>
          <p:spPr>
            <a:xfrm>
              <a:off x="1576325" y="2503425"/>
              <a:ext cx="918900" cy="891600"/>
            </a:xfrm>
            <a:prstGeom prst="ellipse">
              <a:avLst/>
            </a:prstGeom>
            <a:noFill/>
            <a:ln cap="flat" cmpd="sng" w="762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2799575" y="2254250"/>
              <a:ext cx="542700" cy="1217100"/>
            </a:xfrm>
            <a:prstGeom prst="rect">
              <a:avLst/>
            </a:prstGeom>
            <a:noFill/>
            <a:ln cap="flat" cmpd="sng" w="762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0" name="Google Shape;270;p30"/>
            <p:cNvSpPr txBox="1"/>
            <p:nvPr/>
          </p:nvSpPr>
          <p:spPr>
            <a:xfrm>
              <a:off x="1273100" y="3385725"/>
              <a:ext cx="21702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F00"/>
                  </a:solidFill>
                  <a:latin typeface="Roboto"/>
                  <a:ea typeface="Roboto"/>
                  <a:cs typeface="Roboto"/>
                  <a:sym typeface="Roboto"/>
                </a:rPr>
                <a:t>Haptic Motor Driver</a:t>
              </a:r>
              <a:endParaRPr b="1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30"/>
            <p:cNvSpPr txBox="1"/>
            <p:nvPr/>
          </p:nvSpPr>
          <p:spPr>
            <a:xfrm>
              <a:off x="2482475" y="1731050"/>
              <a:ext cx="1176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F00"/>
                  </a:solidFill>
                  <a:latin typeface="Roboto"/>
                  <a:ea typeface="Roboto"/>
                  <a:cs typeface="Roboto"/>
                  <a:sym typeface="Roboto"/>
                </a:rPr>
                <a:t>Haptic Motor Pads</a:t>
              </a:r>
              <a:endParaRPr b="1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Quick Look at the Hardware Projects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476325" y="1022025"/>
            <a:ext cx="2394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Heat Sensor </a:t>
            </a: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[3D Model]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3476325" y="1044975"/>
            <a:ext cx="519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System Controller [PCB Layout]</a:t>
            </a:r>
            <a:endParaRPr/>
          </a:p>
        </p:txBody>
      </p:sp>
      <p:sp>
        <p:nvSpPr>
          <p:cNvPr id="279" name="Google Shape;279;p31"/>
          <p:cNvSpPr txBox="1"/>
          <p:nvPr/>
        </p:nvSpPr>
        <p:spPr>
          <a:xfrm>
            <a:off x="476375" y="3667425"/>
            <a:ext cx="239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Monitors Internal Heat</a:t>
            </a:r>
            <a:endParaRPr sz="600">
              <a:solidFill>
                <a:schemeClr val="dk1"/>
              </a:solidFill>
            </a:endParaRPr>
          </a:p>
        </p:txBody>
      </p:sp>
      <p:grpSp>
        <p:nvGrpSpPr>
          <p:cNvPr id="280" name="Google Shape;280;p31"/>
          <p:cNvGrpSpPr/>
          <p:nvPr/>
        </p:nvGrpSpPr>
        <p:grpSpPr>
          <a:xfrm>
            <a:off x="476325" y="1499022"/>
            <a:ext cx="2394725" cy="2168401"/>
            <a:chOff x="476325" y="1499022"/>
            <a:chExt cx="2394725" cy="2168401"/>
          </a:xfrm>
        </p:grpSpPr>
        <p:pic>
          <p:nvPicPr>
            <p:cNvPr id="281" name="Google Shape;281;p31" title="Heat_Sensor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6325" y="1499022"/>
              <a:ext cx="2394659" cy="2168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31"/>
            <p:cNvSpPr/>
            <p:nvPr/>
          </p:nvSpPr>
          <p:spPr>
            <a:xfrm>
              <a:off x="1950975" y="2372375"/>
              <a:ext cx="495900" cy="477000"/>
            </a:xfrm>
            <a:prstGeom prst="ellipse">
              <a:avLst/>
            </a:prstGeom>
            <a:noFill/>
            <a:ln cap="flat" cmpd="sng" w="76200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3" name="Google Shape;283;p31"/>
            <p:cNvSpPr txBox="1"/>
            <p:nvPr/>
          </p:nvSpPr>
          <p:spPr>
            <a:xfrm>
              <a:off x="1825550" y="2843025"/>
              <a:ext cx="10455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0FF00"/>
                  </a:solidFill>
                  <a:latin typeface="Roboto"/>
                  <a:ea typeface="Roboto"/>
                  <a:cs typeface="Roboto"/>
                  <a:sym typeface="Roboto"/>
                </a:rPr>
                <a:t>Heat Sensor</a:t>
              </a:r>
              <a:endParaRPr b="1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84" name="Google Shape;284;p31" title="stm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6323" y="1521963"/>
            <a:ext cx="5191352" cy="216841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1"/>
          <p:cNvSpPr txBox="1"/>
          <p:nvPr/>
        </p:nvSpPr>
        <p:spPr>
          <a:xfrm>
            <a:off x="3476325" y="3690400"/>
            <a:ext cx="519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Controls Power Rails’ Functions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5170425" y="2419350"/>
            <a:ext cx="936000" cy="9198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5068825" y="3313425"/>
            <a:ext cx="171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STM32 Microcontroller</a:t>
            </a:r>
            <a:endParaRPr b="1" sz="1100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7370700" y="2647425"/>
            <a:ext cx="550800" cy="549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7652375" y="1869750"/>
            <a:ext cx="550800" cy="549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6181275" y="1978538"/>
            <a:ext cx="550800" cy="549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3745338" y="2528150"/>
            <a:ext cx="550800" cy="5496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3745350" y="1573275"/>
            <a:ext cx="854400" cy="844200"/>
          </a:xfrm>
          <a:prstGeom prst="ellipse">
            <a:avLst/>
          </a:prstGeom>
          <a:noFill/>
          <a:ln cap="flat" cmpd="sng" w="762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4508500" y="1573275"/>
            <a:ext cx="138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USB-C Receptacle</a:t>
            </a:r>
            <a:endParaRPr b="1" sz="1100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6959600" y="3197025"/>
            <a:ext cx="1581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b="1" lang="en" sz="1100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4 Voltage Regulator</a:t>
            </a:r>
            <a:endParaRPr b="1" sz="1100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2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Quick Look at the Hardware Projects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00" name="Google Shape;300;p32"/>
          <p:cNvPicPr preferRelativeResize="0"/>
          <p:nvPr/>
        </p:nvPicPr>
        <p:blipFill rotWithShape="1">
          <a:blip r:embed="rId3">
            <a:alphaModFix/>
          </a:blip>
          <a:srcRect b="2160" l="0" r="0" t="-2160"/>
          <a:stretch/>
        </p:blipFill>
        <p:spPr>
          <a:xfrm>
            <a:off x="264875" y="1302388"/>
            <a:ext cx="4027201" cy="28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2"/>
          <p:cNvSpPr txBox="1"/>
          <p:nvPr/>
        </p:nvSpPr>
        <p:spPr>
          <a:xfrm>
            <a:off x="292283" y="960650"/>
            <a:ext cx="399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Fingerprint Sensor</a:t>
            </a: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 [Schematic]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312782" y="4107125"/>
            <a:ext cx="397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Quick and Secure Way For User To Protect Phone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303" name="Google Shape;303;p32"/>
          <p:cNvSpPr txBox="1"/>
          <p:nvPr/>
        </p:nvSpPr>
        <p:spPr>
          <a:xfrm>
            <a:off x="4639358" y="928988"/>
            <a:ext cx="3999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System on Module </a:t>
            </a:r>
            <a:r>
              <a:rPr lang="en" sz="19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[</a:t>
            </a:r>
            <a:r>
              <a:rPr lang="en" sz="17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3D Model]</a:t>
            </a:r>
            <a:endParaRPr/>
          </a:p>
        </p:txBody>
      </p:sp>
      <p:pic>
        <p:nvPicPr>
          <p:cNvPr id="304" name="Google Shape;30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341" y="1381530"/>
            <a:ext cx="2438077" cy="2845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32"/>
          <p:cNvSpPr txBox="1"/>
          <p:nvPr/>
        </p:nvSpPr>
        <p:spPr>
          <a:xfrm>
            <a:off x="4930401" y="4147875"/>
            <a:ext cx="363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Motherboard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761D"/>
                </a:solidFill>
              </a:rPr>
              <a:t>Hardware Design: Motherboard (System on Module)</a:t>
            </a:r>
            <a:endParaRPr>
              <a:solidFill>
                <a:srgbClr val="38761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311" name="Google Shape;3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297" y="968700"/>
            <a:ext cx="2481423" cy="402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7150" y="968700"/>
            <a:ext cx="3074451" cy="397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68700"/>
            <a:ext cx="2725416" cy="402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4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Hardware Design: Thermometer and Barometer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19" name="Google Shape;319;p34"/>
          <p:cNvPicPr preferRelativeResize="0"/>
          <p:nvPr/>
        </p:nvPicPr>
        <p:blipFill rotWithShape="1">
          <a:blip r:embed="rId3">
            <a:alphaModFix/>
          </a:blip>
          <a:srcRect b="0" l="4005" r="5587" t="14052"/>
          <a:stretch/>
        </p:blipFill>
        <p:spPr>
          <a:xfrm>
            <a:off x="637683" y="899850"/>
            <a:ext cx="7686000" cy="40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Hardware Design: Fingerprint Sensor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25" name="Google Shape;3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838" y="958475"/>
            <a:ext cx="5926336" cy="402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Hardware Design: </a:t>
            </a:r>
            <a:r>
              <a:rPr lang="en">
                <a:solidFill>
                  <a:srgbClr val="38761D"/>
                </a:solidFill>
              </a:rPr>
              <a:t>STM32</a:t>
            </a:r>
            <a:r>
              <a:rPr lang="en">
                <a:solidFill>
                  <a:srgbClr val="38761D"/>
                </a:solidFill>
              </a:rPr>
              <a:t> </a:t>
            </a:r>
            <a:r>
              <a:rPr lang="en">
                <a:solidFill>
                  <a:srgbClr val="38761D"/>
                </a:solidFill>
              </a:rPr>
              <a:t>Microcontroller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31" name="Google Shape;331;p36" title="stm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80" y="867435"/>
            <a:ext cx="8230349" cy="34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6"/>
          <p:cNvSpPr/>
          <p:nvPr/>
        </p:nvSpPr>
        <p:spPr>
          <a:xfrm>
            <a:off x="3155816" y="2290150"/>
            <a:ext cx="1483800" cy="14583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2994739" y="3707614"/>
            <a:ext cx="2718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950" lIns="144950" spcFirstLastPara="1" rIns="144950" wrap="square" tIns="144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4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STM32 Microcontroller</a:t>
            </a:r>
            <a:endParaRPr b="1" sz="1744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6644139" y="2651740"/>
            <a:ext cx="873300" cy="8712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7090707" y="1418817"/>
            <a:ext cx="873300" cy="8712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6"/>
          <p:cNvSpPr/>
          <p:nvPr/>
        </p:nvSpPr>
        <p:spPr>
          <a:xfrm>
            <a:off x="4758421" y="1591288"/>
            <a:ext cx="873300" cy="8712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896477" y="2462641"/>
            <a:ext cx="873300" cy="8712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896497" y="948786"/>
            <a:ext cx="1354500" cy="1338300"/>
          </a:xfrm>
          <a:prstGeom prst="ellipse">
            <a:avLst/>
          </a:prstGeom>
          <a:noFill/>
          <a:ln cap="flat" cmpd="sng" w="1208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950" lIns="144950" spcFirstLastPara="1" rIns="144950" wrap="square" tIns="14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2106398" y="948786"/>
            <a:ext cx="21879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950" lIns="144950" spcFirstLastPara="1" rIns="144950" wrap="square" tIns="144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4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USB-C Receptacle</a:t>
            </a:r>
            <a:endParaRPr b="1" sz="1744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5992380" y="3523074"/>
            <a:ext cx="25080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950" lIns="144950" spcFirstLastPara="1" rIns="144950" wrap="square" tIns="144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44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x4 Voltage Regulator</a:t>
            </a:r>
            <a:endParaRPr b="1" sz="1744">
              <a:solidFill>
                <a:srgbClr val="00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>
            <a:off x="504750" y="266700"/>
            <a:ext cx="81345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</a:rPr>
              <a:t>Hardware Design: Camera</a:t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346" name="Google Shape;346;p37" title="Screenshot 2025-08-07 095117.png"/>
          <p:cNvPicPr preferRelativeResize="0"/>
          <p:nvPr/>
        </p:nvPicPr>
        <p:blipFill rotWithShape="1">
          <a:blip r:embed="rId3">
            <a:alphaModFix/>
          </a:blip>
          <a:srcRect b="0" l="0" r="0" t="16086"/>
          <a:stretch/>
        </p:blipFill>
        <p:spPr>
          <a:xfrm>
            <a:off x="448950" y="884025"/>
            <a:ext cx="8134500" cy="3881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ctrTitle"/>
          </p:nvPr>
        </p:nvSpPr>
        <p:spPr>
          <a:xfrm>
            <a:off x="441925" y="1629975"/>
            <a:ext cx="5572500" cy="10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300"/>
              <a:t>Thank you</a:t>
            </a:r>
            <a:endParaRPr i="1" sz="4400"/>
          </a:p>
        </p:txBody>
      </p:sp>
      <p:grpSp>
        <p:nvGrpSpPr>
          <p:cNvPr id="352" name="Google Shape;352;p38"/>
          <p:cNvGrpSpPr/>
          <p:nvPr/>
        </p:nvGrpSpPr>
        <p:grpSpPr>
          <a:xfrm rot="899960">
            <a:off x="6220593" y="178811"/>
            <a:ext cx="2344022" cy="4785879"/>
            <a:chOff x="5812139" y="178733"/>
            <a:chExt cx="2344092" cy="4786022"/>
          </a:xfrm>
        </p:grpSpPr>
        <p:sp>
          <p:nvSpPr>
            <p:cNvPr id="353" name="Google Shape;353;p38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8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8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8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8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8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8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8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8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8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8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3" name="Google Shape;373;p38"/>
          <p:cNvSpPr/>
          <p:nvPr/>
        </p:nvSpPr>
        <p:spPr>
          <a:xfrm rot="900028">
            <a:off x="6771276" y="1038589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8"/>
          <p:cNvSpPr/>
          <p:nvPr/>
        </p:nvSpPr>
        <p:spPr>
          <a:xfrm rot="900033">
            <a:off x="7227958" y="1568658"/>
            <a:ext cx="4598" cy="4470"/>
          </a:xfrm>
          <a:custGeom>
            <a:rect b="b" l="l" r="r" t="t"/>
            <a:pathLst>
              <a:path extrusionOk="0" h="35" w="36">
                <a:moveTo>
                  <a:pt x="1" y="0"/>
                </a:moveTo>
                <a:lnTo>
                  <a:pt x="27" y="34"/>
                </a:lnTo>
                <a:lnTo>
                  <a:pt x="35" y="34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8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14382776" name="adj1"/>
              <a:gd fmla="val 21460693" name="adj2"/>
            </a:avLst>
          </a:prstGeom>
          <a:solidFill>
            <a:schemeClr val="accent6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8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21249271" name="adj1"/>
              <a:gd fmla="val 7379660" name="adj2"/>
            </a:avLst>
          </a:prstGeom>
          <a:solidFill>
            <a:schemeClr val="accent6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8"/>
          <p:cNvSpPr/>
          <p:nvPr/>
        </p:nvSpPr>
        <p:spPr>
          <a:xfrm rot="900064">
            <a:off x="6953395" y="1218776"/>
            <a:ext cx="1287683" cy="1287683"/>
          </a:xfrm>
          <a:prstGeom prst="pie">
            <a:avLst>
              <a:gd fmla="val 7348780" name="adj1"/>
              <a:gd fmla="val 15975568" name="adj2"/>
            </a:avLst>
          </a:prstGeom>
          <a:solidFill>
            <a:schemeClr val="accent6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8"/>
          <p:cNvSpPr/>
          <p:nvPr/>
        </p:nvSpPr>
        <p:spPr>
          <a:xfrm rot="900028">
            <a:off x="6297948" y="2805074"/>
            <a:ext cx="1651683" cy="164797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9" name="Google Shape;379;p38"/>
          <p:cNvGrpSpPr/>
          <p:nvPr/>
        </p:nvGrpSpPr>
        <p:grpSpPr>
          <a:xfrm rot="899960">
            <a:off x="6502031" y="2981459"/>
            <a:ext cx="1216764" cy="1287562"/>
            <a:chOff x="4210050" y="3676650"/>
            <a:chExt cx="1216800" cy="1287600"/>
          </a:xfrm>
        </p:grpSpPr>
        <p:sp>
          <p:nvSpPr>
            <p:cNvPr id="380" name="Google Shape;380;p38"/>
            <p:cNvSpPr/>
            <p:nvPr/>
          </p:nvSpPr>
          <p:spPr>
            <a:xfrm>
              <a:off x="4210050" y="3676650"/>
              <a:ext cx="340500" cy="1287600"/>
            </a:xfrm>
            <a:prstGeom prst="rect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38"/>
            <p:cNvSpPr/>
            <p:nvPr/>
          </p:nvSpPr>
          <p:spPr>
            <a:xfrm>
              <a:off x="4648200" y="4019550"/>
              <a:ext cx="340500" cy="944700"/>
            </a:xfrm>
            <a:prstGeom prst="rect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8"/>
            <p:cNvSpPr/>
            <p:nvPr/>
          </p:nvSpPr>
          <p:spPr>
            <a:xfrm>
              <a:off x="5086350" y="4362450"/>
              <a:ext cx="340500" cy="601800"/>
            </a:xfrm>
            <a:prstGeom prst="rect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9" title="Photo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1959"/>
            <a:ext cx="4225265" cy="237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9" title="Photo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8734" y="607735"/>
            <a:ext cx="4225265" cy="2376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9" title="Photo4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182" y="2624363"/>
            <a:ext cx="4225265" cy="2376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0" title="Photo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968" y="143875"/>
            <a:ext cx="3448033" cy="258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0" title="Photo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1188" y="2479266"/>
            <a:ext cx="4889554" cy="275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0" title="Photo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34567"/>
            <a:ext cx="4889554" cy="275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hone Interface Infographics by Slidesgo">
  <a:themeElements>
    <a:clrScheme name="Simple Light">
      <a:dk1>
        <a:srgbClr val="000000"/>
      </a:dk1>
      <a:lt1>
        <a:srgbClr val="FDFDFD"/>
      </a:lt1>
      <a:dk2>
        <a:srgbClr val="B3B3B3"/>
      </a:dk2>
      <a:lt2>
        <a:srgbClr val="E4E4E4"/>
      </a:lt2>
      <a:accent1>
        <a:srgbClr val="E2555F"/>
      </a:accent1>
      <a:accent2>
        <a:srgbClr val="2F6CC0"/>
      </a:accent2>
      <a:accent3>
        <a:srgbClr val="A74868"/>
      </a:accent3>
      <a:accent4>
        <a:srgbClr val="1C3F6F"/>
      </a:accent4>
      <a:accent5>
        <a:srgbClr val="C7C3B8"/>
      </a:accent5>
      <a:accent6>
        <a:srgbClr val="FAF7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