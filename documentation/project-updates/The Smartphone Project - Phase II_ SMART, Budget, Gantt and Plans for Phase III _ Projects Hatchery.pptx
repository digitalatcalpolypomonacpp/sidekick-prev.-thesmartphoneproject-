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Playfair Displ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Fira Sans Extra Condensed Medium"/>
      <p:regular r:id="rId34"/>
      <p:bold r:id="rId35"/>
      <p:italic r:id="rId36"/>
      <p:boldItalic r:id="rId37"/>
    </p:embeddedFont>
    <p:embeddedFont>
      <p:font typeface="Fira Sans Extra Condensed"/>
      <p:regular r:id="rId38"/>
      <p:bold r:id="rId39"/>
      <p:italic r:id="rId40"/>
      <p:boldItalic r:id="rId41"/>
    </p:embeddedFont>
    <p:embeddedFont>
      <p:font typeface="Fira Sans Extra Condensed SemiBol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CD25A9-6C87-411D-BF46-77474902BF59}">
  <a:tblStyle styleId="{36CD25A9-6C87-411D-BF46-77474902BF5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-italic.fntdata"/><Relationship Id="rId20" Type="http://schemas.openxmlformats.org/officeDocument/2006/relationships/slide" Target="slides/slide13.xml"/><Relationship Id="rId42" Type="http://schemas.openxmlformats.org/officeDocument/2006/relationships/font" Target="fonts/FiraSansExtraCondensedSemiBold-regular.fntdata"/><Relationship Id="rId41" Type="http://schemas.openxmlformats.org/officeDocument/2006/relationships/font" Target="fonts/FiraSansExtraCondensed-boldItalic.fntdata"/><Relationship Id="rId22" Type="http://schemas.openxmlformats.org/officeDocument/2006/relationships/font" Target="fonts/Roboto-regular.fntdata"/><Relationship Id="rId44" Type="http://schemas.openxmlformats.org/officeDocument/2006/relationships/font" Target="fonts/FiraSansExtraCondensedSemiBold-italic.fntdata"/><Relationship Id="rId21" Type="http://schemas.openxmlformats.org/officeDocument/2006/relationships/slide" Target="slides/slide14.xml"/><Relationship Id="rId43" Type="http://schemas.openxmlformats.org/officeDocument/2006/relationships/font" Target="fonts/FiraSansExtraCondensedSemiBold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45" Type="http://schemas.openxmlformats.org/officeDocument/2006/relationships/font" Target="fonts/FiraSansExtraCondensed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layfairDisplay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PlayfairDisplay-italic.fntdata"/><Relationship Id="rId27" Type="http://schemas.openxmlformats.org/officeDocument/2006/relationships/font" Target="fonts/PlayfairDisplay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fairDisplay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4.xml"/><Relationship Id="rId33" Type="http://schemas.openxmlformats.org/officeDocument/2006/relationships/font" Target="fonts/Lato-boldItalic.fntdata"/><Relationship Id="rId10" Type="http://schemas.openxmlformats.org/officeDocument/2006/relationships/slide" Target="slides/slide3.xml"/><Relationship Id="rId32" Type="http://schemas.openxmlformats.org/officeDocument/2006/relationships/font" Target="fonts/Lato-italic.fntdata"/><Relationship Id="rId13" Type="http://schemas.openxmlformats.org/officeDocument/2006/relationships/slide" Target="slides/slide6.xml"/><Relationship Id="rId35" Type="http://schemas.openxmlformats.org/officeDocument/2006/relationships/font" Target="fonts/FiraSansExtraCondensedMedium-bold.fntdata"/><Relationship Id="rId12" Type="http://schemas.openxmlformats.org/officeDocument/2006/relationships/slide" Target="slides/slide5.xml"/><Relationship Id="rId34" Type="http://schemas.openxmlformats.org/officeDocument/2006/relationships/font" Target="fonts/FiraSansExtraCondensedMedium-regular.fntdata"/><Relationship Id="rId15" Type="http://schemas.openxmlformats.org/officeDocument/2006/relationships/slide" Target="slides/slide8.xml"/><Relationship Id="rId37" Type="http://schemas.openxmlformats.org/officeDocument/2006/relationships/font" Target="fonts/FiraSansExtraCondensedMedium-boldItalic.fntdata"/><Relationship Id="rId14" Type="http://schemas.openxmlformats.org/officeDocument/2006/relationships/slide" Target="slides/slide7.xml"/><Relationship Id="rId36" Type="http://schemas.openxmlformats.org/officeDocument/2006/relationships/font" Target="fonts/FiraSansExtraCondensedMedium-italic.fntdata"/><Relationship Id="rId17" Type="http://schemas.openxmlformats.org/officeDocument/2006/relationships/slide" Target="slides/slide10.xml"/><Relationship Id="rId39" Type="http://schemas.openxmlformats.org/officeDocument/2006/relationships/font" Target="fonts/FiraSansExtraCondensed-bold.fntdata"/><Relationship Id="rId16" Type="http://schemas.openxmlformats.org/officeDocument/2006/relationships/slide" Target="slides/slide9.xml"/><Relationship Id="rId38" Type="http://schemas.openxmlformats.org/officeDocument/2006/relationships/font" Target="fonts/FiraSansExtraCondensed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c678af444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c678af444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f17c071ec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f17c071ec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71c21dc5d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271c21dc5d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</a:rPr>
              <a:t>User Defined in a Poll: “Comfortability to Hold”, “Intuitive to Use”, and “Speedy Enough to Feel Snappy and Responsive</a:t>
            </a:r>
            <a:r>
              <a:rPr lang="en" strike="sngStrike">
                <a:solidFill>
                  <a:schemeClr val="dk1"/>
                </a:solidFill>
              </a:rPr>
              <a:t>”</a:t>
            </a:r>
            <a:endParaRPr strike="sngStrike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</a:rPr>
              <a:t>“Powerful enough to maintain strong performance” - Clock Speed, Voltage Regulation Test, Bandwidth, Power-Efficiency (Performance Per Watt),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</a:rPr>
              <a:t>“Efficient enough to endure a whole day of extensive use” - “Screen On Time”, “Real World Testing”, “Battery Capacity (mAh)”, “Battery Discharge Rate (mA)”, “Energy Efficiency Ratio (EER)”, “Component Power Draw”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271c21dc5d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271c21dc5d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Programmable Hardware enables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for the AVERAGE PERSON to easily repair of various elements in a PRODUCT </a:t>
            </a:r>
            <a:r>
              <a:rPr lang="en" sz="1400" u="sng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</a:t>
            </a: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OWN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easily assemble/disassemble ALLOWS you to upgrade your perfectly good phone by replacing only the components on the phone that YOU want improved on your phone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make a modular phone, which would allow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make your phone distinctly YOURS (not an identical slab to everyone else)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decide what are important features to you and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2da023c24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2da023c24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Programmable Hardware enables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for the AVERAGE PERSON to easily repair of various elements in a PRODUCT </a:t>
            </a:r>
            <a:r>
              <a:rPr lang="en" sz="1400" u="sng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</a:t>
            </a: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OWN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easily assemble/disassemble ALLOWS you to upgrade your perfectly good phone by replacing only the components on the phone that YOU want improved on your phone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make a modular phone, which would allow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make your phone distinctly YOURS (not an identical slab to everyone else)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decide what are important features to you and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5e4e6cd8d9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5e4e6cd8d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2bbd2687a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2bbd2687a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e4e6cd8d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5e4e6cd8d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f39b6ebc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1f39b6ebc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da023c2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2da023c2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Programmable Hardware enables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for the AVERAGE PERSON to easily repair of various elements in a PRODUCT </a:t>
            </a:r>
            <a:r>
              <a:rPr lang="en" sz="1400" u="sng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</a:t>
            </a: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OWN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easily assemble/disassemble ALLOWS you to upgrade your perfectly good phone by replacing only the components on the phone that YOU want improved on your phone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make a modular phone, which would allow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make your phone distinctly YOURS (not an identical slab to everyone else)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decide what are important features to you and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2da023c24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2da023c24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27772f7e82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27772f7e82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Programmable Hardware enables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for the AVERAGE PERSON to easily repair of various elements in a PRODUCT </a:t>
            </a:r>
            <a:r>
              <a:rPr lang="en" sz="1400" u="sng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</a:t>
            </a: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OWN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easily assemble/disassemble ALLOWS you to upgrade your perfectly good phone by replacing only the components on the phone that YOU want improved on your phone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make a modular phone, which would allow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make your phone distinctly YOURS (not an identical slab to everyone else)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decide what are important features to you and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27772f7e82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27772f7e82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Programmable Hardware enables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for the AVERAGE PERSON to easily repair of various elements in a PRODUCT </a:t>
            </a:r>
            <a:r>
              <a:rPr lang="en" sz="1400" u="sng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</a:t>
            </a: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OWN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easily assemble/disassemble ALLOWS you to upgrade your perfectly good phone by replacing only the components on the phone that YOU want improved on your phone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make a modular phone, which would allow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make your phone distinctly YOURS (not an identical slab to everyone else)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decide what are important features to you and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1f39b6ebcb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1f39b6ebcb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ong text">
  <p:cSld name="CUSTOM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3"/>
          <p:cNvGrpSpPr/>
          <p:nvPr/>
        </p:nvGrpSpPr>
        <p:grpSpPr>
          <a:xfrm>
            <a:off x="-2134953" y="-2232526"/>
            <a:ext cx="13005666" cy="9144743"/>
            <a:chOff x="-2134953" y="-2232526"/>
            <a:chExt cx="13005666" cy="9144743"/>
          </a:xfrm>
        </p:grpSpPr>
        <p:sp>
          <p:nvSpPr>
            <p:cNvPr id="57" name="Google Shape;57;p13"/>
            <p:cNvSpPr/>
            <p:nvPr/>
          </p:nvSpPr>
          <p:spPr>
            <a:xfrm rot="1514180">
              <a:off x="7764459" y="-1823388"/>
              <a:ext cx="2508827" cy="2633723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 rot="1514383">
              <a:off x="-1786388" y="4539304"/>
              <a:ext cx="1913798" cy="2063379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 rot="1514383">
              <a:off x="-1156102" y="4179892"/>
              <a:ext cx="1866179" cy="2262738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 rot="1514383">
              <a:off x="-1432077" y="4117600"/>
              <a:ext cx="2157231" cy="2264624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 rot="1430415">
              <a:off x="8011433" y="-1439033"/>
              <a:ext cx="2205009" cy="2377351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 rot="1430415">
              <a:off x="8285431" y="-1252560"/>
              <a:ext cx="2150144" cy="2607045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625650" y="1087175"/>
            <a:ext cx="7689900" cy="3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67" name="Google Shape;67;p14"/>
          <p:cNvGrpSpPr/>
          <p:nvPr/>
        </p:nvGrpSpPr>
        <p:grpSpPr>
          <a:xfrm>
            <a:off x="-3621963" y="-1003613"/>
            <a:ext cx="14748864" cy="9515698"/>
            <a:chOff x="-3621963" y="-1003613"/>
            <a:chExt cx="14748864" cy="9515698"/>
          </a:xfrm>
        </p:grpSpPr>
        <p:sp>
          <p:nvSpPr>
            <p:cNvPr id="68" name="Google Shape;68;p14"/>
            <p:cNvSpPr/>
            <p:nvPr/>
          </p:nvSpPr>
          <p:spPr>
            <a:xfrm>
              <a:off x="-2981249" y="4185615"/>
              <a:ext cx="3844172" cy="4035545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 rot="5114100">
              <a:off x="8678084" y="-994810"/>
              <a:ext cx="2215747" cy="2388928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 rot="5114100">
              <a:off x="8650417" y="-715298"/>
              <a:ext cx="2160615" cy="2619741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 rot="5114100">
              <a:off x="8467940" y="-882708"/>
              <a:ext cx="2497588" cy="2621924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 rot="1430265">
              <a:off x="-3029963" y="3507636"/>
              <a:ext cx="3378707" cy="3642785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 rot="1430265">
              <a:off x="-2686314" y="4021970"/>
              <a:ext cx="3294638" cy="3994742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504825" y="1477575"/>
            <a:ext cx="5199300" cy="18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504825" y="3325425"/>
            <a:ext cx="3905400" cy="3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504750" y="342900"/>
            <a:ext cx="8134500" cy="1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4" name="Google Shape;104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5" name="Google Shape;105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9" name="Google Shape;10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" name="Google Shape;112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amazon.com/gp/product/B08JKN4PL5/ref=ox_sc_saved_title_4?smid=ANGHDKZZ80XV6&amp;th=1" TargetMode="External"/><Relationship Id="rId4" Type="http://schemas.openxmlformats.org/officeDocument/2006/relationships/hyperlink" Target="https://www.amazon.com/gp/product/B00DTSLWRA/ref=ox_sc_saved_title_3?smid=ATVPDKIKX0DER&amp;psc=1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7"/>
          <p:cNvGrpSpPr/>
          <p:nvPr/>
        </p:nvGrpSpPr>
        <p:grpSpPr>
          <a:xfrm rot="899960">
            <a:off x="6220593" y="178811"/>
            <a:ext cx="2344022" cy="4785879"/>
            <a:chOff x="5812139" y="178733"/>
            <a:chExt cx="2344092" cy="4786022"/>
          </a:xfrm>
        </p:grpSpPr>
        <p:sp>
          <p:nvSpPr>
            <p:cNvPr id="121" name="Google Shape;121;p27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7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27"/>
          <p:cNvSpPr/>
          <p:nvPr/>
        </p:nvSpPr>
        <p:spPr>
          <a:xfrm rot="900028">
            <a:off x="6771276" y="1038589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7"/>
          <p:cNvSpPr txBox="1"/>
          <p:nvPr>
            <p:ph idx="1" type="subTitle"/>
          </p:nvPr>
        </p:nvSpPr>
        <p:spPr>
          <a:xfrm>
            <a:off x="441925" y="2639625"/>
            <a:ext cx="53721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C3A3B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Building a Smartphone From Scratch</a:t>
            </a:r>
            <a:endParaRPr sz="2400">
              <a:solidFill>
                <a:srgbClr val="EC3A3B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" name="Google Shape;143;p27"/>
          <p:cNvSpPr/>
          <p:nvPr/>
        </p:nvSpPr>
        <p:spPr>
          <a:xfrm rot="900033">
            <a:off x="7227958" y="1568658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7"/>
          <p:cNvSpPr txBox="1"/>
          <p:nvPr>
            <p:ph type="ctrTitle"/>
          </p:nvPr>
        </p:nvSpPr>
        <p:spPr>
          <a:xfrm>
            <a:off x="441925" y="1629975"/>
            <a:ext cx="5199300" cy="10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Smartphone Project</a:t>
            </a:r>
            <a:endParaRPr sz="4400"/>
          </a:p>
        </p:txBody>
      </p:sp>
      <p:sp>
        <p:nvSpPr>
          <p:cNvPr id="145" name="Google Shape;145;p2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14382776" name="adj1"/>
              <a:gd fmla="val 21460693" name="adj2"/>
            </a:avLst>
          </a:prstGeom>
          <a:solidFill>
            <a:schemeClr val="accent6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21249271" name="adj1"/>
              <a:gd fmla="val 7379660" name="adj2"/>
            </a:avLst>
          </a:pr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7348780" name="adj1"/>
              <a:gd fmla="val 15975568" name="adj2"/>
            </a:avLst>
          </a:prstGeom>
          <a:solidFill>
            <a:schemeClr val="accent6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7"/>
          <p:cNvSpPr/>
          <p:nvPr/>
        </p:nvSpPr>
        <p:spPr>
          <a:xfrm rot="900028">
            <a:off x="6297948" y="2805074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27"/>
          <p:cNvGrpSpPr/>
          <p:nvPr/>
        </p:nvGrpSpPr>
        <p:grpSpPr>
          <a:xfrm rot="899960">
            <a:off x="6502031" y="2981459"/>
            <a:ext cx="1216764" cy="1287562"/>
            <a:chOff x="4210050" y="3676650"/>
            <a:chExt cx="1216800" cy="1287600"/>
          </a:xfrm>
        </p:grpSpPr>
        <p:sp>
          <p:nvSpPr>
            <p:cNvPr id="150" name="Google Shape;150;p27"/>
            <p:cNvSpPr/>
            <p:nvPr/>
          </p:nvSpPr>
          <p:spPr>
            <a:xfrm>
              <a:off x="4210050" y="3676650"/>
              <a:ext cx="340500" cy="12876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4648200" y="4019550"/>
              <a:ext cx="340500" cy="944700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5086350" y="4362450"/>
              <a:ext cx="340500" cy="6018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8"/>
          <p:cNvGrpSpPr/>
          <p:nvPr/>
        </p:nvGrpSpPr>
        <p:grpSpPr>
          <a:xfrm rot="-5400000">
            <a:off x="3223417" y="794576"/>
            <a:ext cx="2697164" cy="5498357"/>
            <a:chOff x="3574823" y="840574"/>
            <a:chExt cx="1994354" cy="4071952"/>
          </a:xfrm>
        </p:grpSpPr>
        <p:sp>
          <p:nvSpPr>
            <p:cNvPr id="158" name="Google Shape;158;p28"/>
            <p:cNvSpPr/>
            <p:nvPr/>
          </p:nvSpPr>
          <p:spPr>
            <a:xfrm>
              <a:off x="3595856" y="840574"/>
              <a:ext cx="1952041" cy="4071952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9" name="Google Shape;159;p28"/>
            <p:cNvSpPr/>
            <p:nvPr/>
          </p:nvSpPr>
          <p:spPr>
            <a:xfrm>
              <a:off x="3652300" y="906174"/>
              <a:ext cx="1839166" cy="3940775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0" name="Google Shape;160;p28"/>
            <p:cNvSpPr/>
            <p:nvPr/>
          </p:nvSpPr>
          <p:spPr>
            <a:xfrm>
              <a:off x="4070851" y="840576"/>
              <a:ext cx="1002057" cy="230689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3610963" y="856426"/>
              <a:ext cx="1923080" cy="4040272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4779510" y="954685"/>
              <a:ext cx="43813" cy="42571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4429299" y="956913"/>
              <a:ext cx="285157" cy="37868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>
              <a:off x="4530044" y="1101517"/>
              <a:ext cx="83914" cy="103457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4512964" y="1162155"/>
              <a:ext cx="117825" cy="69301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5191940" y="972753"/>
              <a:ext cx="75250" cy="58411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5108275" y="981168"/>
              <a:ext cx="65596" cy="48758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5286497" y="982405"/>
              <a:ext cx="98270" cy="47521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9" name="Google Shape;169;p28"/>
            <p:cNvSpPr/>
            <p:nvPr/>
          </p:nvSpPr>
          <p:spPr>
            <a:xfrm>
              <a:off x="5491205" y="1209119"/>
              <a:ext cx="57428" cy="28216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3596606" y="1209119"/>
              <a:ext cx="55942" cy="28216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5548384" y="1795949"/>
              <a:ext cx="20793" cy="301956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3574823" y="2067460"/>
              <a:ext cx="22030" cy="303194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3574823" y="1690265"/>
              <a:ext cx="22030" cy="303441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3574823" y="1419991"/>
              <a:ext cx="22030" cy="94794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5491205" y="4514525"/>
              <a:ext cx="57428" cy="29453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3596606" y="4514525"/>
              <a:ext cx="55942" cy="29453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77" name="Google Shape;177;p28"/>
          <p:cNvSpPr/>
          <p:nvPr/>
        </p:nvSpPr>
        <p:spPr>
          <a:xfrm rot="-5400000">
            <a:off x="5175163" y="3245916"/>
            <a:ext cx="2273100" cy="6189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6002280" y="3233719"/>
            <a:ext cx="6189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</a:t>
            </a:r>
            <a:endParaRPr sz="12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79" name="Google Shape;179;p28"/>
          <p:cNvGrpSpPr/>
          <p:nvPr/>
        </p:nvGrpSpPr>
        <p:grpSpPr>
          <a:xfrm>
            <a:off x="6102212" y="2508784"/>
            <a:ext cx="459329" cy="460067"/>
            <a:chOff x="1379065" y="3291711"/>
            <a:chExt cx="340168" cy="340186"/>
          </a:xfrm>
        </p:grpSpPr>
        <p:sp>
          <p:nvSpPr>
            <p:cNvPr id="180" name="Google Shape;180;p28"/>
            <p:cNvSpPr/>
            <p:nvPr/>
          </p:nvSpPr>
          <p:spPr>
            <a:xfrm>
              <a:off x="1379065" y="3291711"/>
              <a:ext cx="340168" cy="340186"/>
            </a:xfrm>
            <a:custGeom>
              <a:rect b="b" l="l" r="r" t="t"/>
              <a:pathLst>
                <a:path extrusionOk="0" h="19326" w="19325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1439547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1519269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1598991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84" name="Google Shape;184;p28"/>
          <p:cNvSpPr/>
          <p:nvPr/>
        </p:nvSpPr>
        <p:spPr>
          <a:xfrm rot="-5400000">
            <a:off x="4247137" y="3245882"/>
            <a:ext cx="2273100" cy="618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8"/>
          <p:cNvSpPr txBox="1"/>
          <p:nvPr/>
        </p:nvSpPr>
        <p:spPr>
          <a:xfrm>
            <a:off x="5074190" y="3233719"/>
            <a:ext cx="6189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</a:t>
            </a:r>
            <a:endParaRPr sz="12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86" name="Google Shape;186;p28"/>
          <p:cNvGrpSpPr/>
          <p:nvPr/>
        </p:nvGrpSpPr>
        <p:grpSpPr>
          <a:xfrm>
            <a:off x="5129634" y="2536577"/>
            <a:ext cx="459307" cy="404328"/>
            <a:chOff x="2081650" y="2050750"/>
            <a:chExt cx="483125" cy="424625"/>
          </a:xfrm>
        </p:grpSpPr>
        <p:sp>
          <p:nvSpPr>
            <p:cNvPr id="187" name="Google Shape;187;p28"/>
            <p:cNvSpPr/>
            <p:nvPr/>
          </p:nvSpPr>
          <p:spPr>
            <a:xfrm>
              <a:off x="2081650" y="2050750"/>
              <a:ext cx="483125" cy="424625"/>
            </a:xfrm>
            <a:custGeom>
              <a:rect b="b" l="l" r="r" t="t"/>
              <a:pathLst>
                <a:path extrusionOk="0" h="16985" w="19325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2136375" y="2292025"/>
              <a:ext cx="36400" cy="41975"/>
            </a:xfrm>
            <a:custGeom>
              <a:rect b="b" l="l" r="r" t="t"/>
              <a:pathLst>
                <a:path extrusionOk="0" h="1679" w="1456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2296850" y="2220800"/>
              <a:ext cx="46075" cy="51650"/>
            </a:xfrm>
            <a:custGeom>
              <a:rect b="b" l="l" r="r" t="t"/>
              <a:pathLst>
                <a:path extrusionOk="0" h="2066" w="1843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2158650" y="2216775"/>
              <a:ext cx="47275" cy="51425"/>
            </a:xfrm>
            <a:custGeom>
              <a:rect b="b" l="l" r="r" t="t"/>
              <a:pathLst>
                <a:path extrusionOk="0" h="2057" w="1891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2426475" y="2255725"/>
              <a:ext cx="55875" cy="46900"/>
            </a:xfrm>
            <a:custGeom>
              <a:rect b="b" l="l" r="r" t="t"/>
              <a:pathLst>
                <a:path extrusionOk="0" h="1876" w="2235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2473050" y="2192325"/>
              <a:ext cx="37000" cy="41500"/>
            </a:xfrm>
            <a:custGeom>
              <a:rect b="b" l="l" r="r" t="t"/>
              <a:pathLst>
                <a:path extrusionOk="0" h="1660" w="148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93" name="Google Shape;193;p28"/>
          <p:cNvSpPr/>
          <p:nvPr/>
        </p:nvSpPr>
        <p:spPr>
          <a:xfrm rot="-5400000">
            <a:off x="2485961" y="3246083"/>
            <a:ext cx="2273100" cy="5949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 txBox="1"/>
          <p:nvPr/>
        </p:nvSpPr>
        <p:spPr>
          <a:xfrm>
            <a:off x="3301249" y="3248967"/>
            <a:ext cx="618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</a:t>
            </a:r>
            <a:endParaRPr sz="20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95" name="Google Shape;195;p28"/>
          <p:cNvGrpSpPr/>
          <p:nvPr/>
        </p:nvGrpSpPr>
        <p:grpSpPr>
          <a:xfrm>
            <a:off x="3429813" y="2522199"/>
            <a:ext cx="436918" cy="433084"/>
            <a:chOff x="3282325" y="2035675"/>
            <a:chExt cx="459575" cy="454825"/>
          </a:xfrm>
        </p:grpSpPr>
        <p:sp>
          <p:nvSpPr>
            <p:cNvPr id="196" name="Google Shape;196;p28"/>
            <p:cNvSpPr/>
            <p:nvPr/>
          </p:nvSpPr>
          <p:spPr>
            <a:xfrm>
              <a:off x="3337050" y="2234125"/>
              <a:ext cx="85925" cy="206325"/>
            </a:xfrm>
            <a:custGeom>
              <a:rect b="b" l="l" r="r" t="t"/>
              <a:pathLst>
                <a:path extrusionOk="0" h="8253" w="3437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3451275" y="2175475"/>
              <a:ext cx="84925" cy="264975"/>
            </a:xfrm>
            <a:custGeom>
              <a:rect b="b" l="l" r="r" t="t"/>
              <a:pathLst>
                <a:path extrusionOk="0" h="10599" w="3397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3564500" y="2116825"/>
              <a:ext cx="84950" cy="323625"/>
            </a:xfrm>
            <a:custGeom>
              <a:rect b="b" l="l" r="r" t="t"/>
              <a:pathLst>
                <a:path extrusionOk="0" h="12945" w="3398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3282325" y="2035675"/>
              <a:ext cx="459575" cy="454825"/>
            </a:xfrm>
            <a:custGeom>
              <a:rect b="b" l="l" r="r" t="t"/>
              <a:pathLst>
                <a:path extrusionOk="0" h="18193" w="18383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00" name="Google Shape;200;p28"/>
          <p:cNvSpPr/>
          <p:nvPr/>
        </p:nvSpPr>
        <p:spPr>
          <a:xfrm rot="-5400000">
            <a:off x="3323061" y="3234150"/>
            <a:ext cx="2273100" cy="618900"/>
          </a:xfrm>
          <a:prstGeom prst="rect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8"/>
          <p:cNvSpPr txBox="1"/>
          <p:nvPr/>
        </p:nvSpPr>
        <p:spPr>
          <a:xfrm>
            <a:off x="4150013" y="3257420"/>
            <a:ext cx="618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41B4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</a:t>
            </a:r>
            <a:endParaRPr sz="1200">
              <a:solidFill>
                <a:srgbClr val="741B47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4232339" y="2490963"/>
            <a:ext cx="446164" cy="428276"/>
          </a:xfrm>
          <a:custGeom>
            <a:rect b="b" l="l" r="r" t="t"/>
            <a:pathLst>
              <a:path extrusionOk="0" h="17991" w="18772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203" name="Google Shape;203;p28"/>
          <p:cNvSpPr/>
          <p:nvPr/>
        </p:nvSpPr>
        <p:spPr>
          <a:xfrm rot="-5400000">
            <a:off x="1662819" y="3246083"/>
            <a:ext cx="2273100" cy="594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8"/>
          <p:cNvSpPr txBox="1"/>
          <p:nvPr/>
        </p:nvSpPr>
        <p:spPr>
          <a:xfrm>
            <a:off x="2477804" y="3245891"/>
            <a:ext cx="618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</a:t>
            </a:r>
            <a:endParaRPr sz="20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05" name="Google Shape;205;p28"/>
          <p:cNvGrpSpPr/>
          <p:nvPr/>
        </p:nvGrpSpPr>
        <p:grpSpPr>
          <a:xfrm>
            <a:off x="2541970" y="2482049"/>
            <a:ext cx="513404" cy="513562"/>
            <a:chOff x="5053900" y="2021500"/>
            <a:chExt cx="483750" cy="483125"/>
          </a:xfrm>
        </p:grpSpPr>
        <p:sp>
          <p:nvSpPr>
            <p:cNvPr id="206" name="Google Shape;206;p28"/>
            <p:cNvSpPr/>
            <p:nvPr/>
          </p:nvSpPr>
          <p:spPr>
            <a:xfrm>
              <a:off x="5281350" y="2078100"/>
              <a:ext cx="127375" cy="127350"/>
            </a:xfrm>
            <a:custGeom>
              <a:rect b="b" l="l" r="r" t="t"/>
              <a:pathLst>
                <a:path extrusionOk="0" h="5094" w="5095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5118000" y="2021500"/>
              <a:ext cx="368700" cy="483125"/>
            </a:xfrm>
            <a:custGeom>
              <a:rect b="b" l="l" r="r" t="t"/>
              <a:pathLst>
                <a:path extrusionOk="0" h="19325" w="14748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50539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5056850" y="2096550"/>
              <a:ext cx="50750" cy="48025"/>
            </a:xfrm>
            <a:custGeom>
              <a:rect b="b" l="l" r="r" t="t"/>
              <a:pathLst>
                <a:path extrusionOk="0" h="1921" w="203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5056400" y="2266400"/>
              <a:ext cx="51200" cy="48350"/>
            </a:xfrm>
            <a:custGeom>
              <a:rect b="b" l="l" r="r" t="t"/>
              <a:pathLst>
                <a:path extrusionOk="0" h="1934" w="2048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54804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5479800" y="209655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5483350" y="226640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14" name="Google Shape;214;p28"/>
          <p:cNvSpPr txBox="1"/>
          <p:nvPr>
            <p:ph type="title"/>
          </p:nvPr>
        </p:nvSpPr>
        <p:spPr>
          <a:xfrm>
            <a:off x="504750" y="11975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Short and Concise SMART Goals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414900" y="669350"/>
            <a:ext cx="8314200" cy="21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 Extra Condensed Medium"/>
              <a:buChar char="●"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Build a fully functional smartphone by the middle of August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 Extra Condensed Medium"/>
              <a:buChar char="●"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Prove that learning to build a smartphone from scratch doesn’t have to be a mystery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3798576" y="2324369"/>
            <a:ext cx="1304700" cy="365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"/>
          <p:cNvSpPr txBox="1"/>
          <p:nvPr/>
        </p:nvSpPr>
        <p:spPr>
          <a:xfrm>
            <a:off x="3805370" y="2324389"/>
            <a:ext cx="13047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</a:t>
            </a:r>
            <a:endParaRPr sz="12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22" name="Google Shape;222;p29"/>
          <p:cNvGrpSpPr/>
          <p:nvPr/>
        </p:nvGrpSpPr>
        <p:grpSpPr>
          <a:xfrm>
            <a:off x="3841364" y="2383535"/>
            <a:ext cx="264141" cy="271196"/>
            <a:chOff x="1379065" y="3291711"/>
            <a:chExt cx="340168" cy="340186"/>
          </a:xfrm>
        </p:grpSpPr>
        <p:sp>
          <p:nvSpPr>
            <p:cNvPr id="223" name="Google Shape;223;p29"/>
            <p:cNvSpPr/>
            <p:nvPr/>
          </p:nvSpPr>
          <p:spPr>
            <a:xfrm>
              <a:off x="1379065" y="3291711"/>
              <a:ext cx="340168" cy="340186"/>
            </a:xfrm>
            <a:custGeom>
              <a:rect b="b" l="l" r="r" t="t"/>
              <a:pathLst>
                <a:path extrusionOk="0" h="19326" w="19325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1439547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1519269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1598991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27" name="Google Shape;227;p29"/>
          <p:cNvSpPr/>
          <p:nvPr/>
        </p:nvSpPr>
        <p:spPr>
          <a:xfrm>
            <a:off x="3798596" y="1776509"/>
            <a:ext cx="1304700" cy="3654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3805370" y="1777685"/>
            <a:ext cx="13047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</a:t>
            </a:r>
            <a:endParaRPr sz="12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29" name="Google Shape;229;p29"/>
          <p:cNvGrpSpPr/>
          <p:nvPr/>
        </p:nvGrpSpPr>
        <p:grpSpPr>
          <a:xfrm>
            <a:off x="3841303" y="1825537"/>
            <a:ext cx="264124" cy="238300"/>
            <a:chOff x="2081650" y="2050750"/>
            <a:chExt cx="483125" cy="424625"/>
          </a:xfrm>
        </p:grpSpPr>
        <p:sp>
          <p:nvSpPr>
            <p:cNvPr id="230" name="Google Shape;230;p29"/>
            <p:cNvSpPr/>
            <p:nvPr/>
          </p:nvSpPr>
          <p:spPr>
            <a:xfrm>
              <a:off x="2081650" y="2050750"/>
              <a:ext cx="483125" cy="424625"/>
            </a:xfrm>
            <a:custGeom>
              <a:rect b="b" l="l" r="r" t="t"/>
              <a:pathLst>
                <a:path extrusionOk="0" h="16985" w="19325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2136375" y="2292025"/>
              <a:ext cx="36400" cy="41975"/>
            </a:xfrm>
            <a:custGeom>
              <a:rect b="b" l="l" r="r" t="t"/>
              <a:pathLst>
                <a:path extrusionOk="0" h="1679" w="1456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2296850" y="2220800"/>
              <a:ext cx="46075" cy="51650"/>
            </a:xfrm>
            <a:custGeom>
              <a:rect b="b" l="l" r="r" t="t"/>
              <a:pathLst>
                <a:path extrusionOk="0" h="2066" w="1843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2158650" y="2216775"/>
              <a:ext cx="47275" cy="51425"/>
            </a:xfrm>
            <a:custGeom>
              <a:rect b="b" l="l" r="r" t="t"/>
              <a:pathLst>
                <a:path extrusionOk="0" h="2057" w="1891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4" name="Google Shape;234;p29"/>
            <p:cNvSpPr/>
            <p:nvPr/>
          </p:nvSpPr>
          <p:spPr>
            <a:xfrm>
              <a:off x="2426475" y="2255725"/>
              <a:ext cx="55875" cy="46900"/>
            </a:xfrm>
            <a:custGeom>
              <a:rect b="b" l="l" r="r" t="t"/>
              <a:pathLst>
                <a:path extrusionOk="0" h="1876" w="2235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5" name="Google Shape;235;p29"/>
            <p:cNvSpPr/>
            <p:nvPr/>
          </p:nvSpPr>
          <p:spPr>
            <a:xfrm>
              <a:off x="2473050" y="2192325"/>
              <a:ext cx="37000" cy="41500"/>
            </a:xfrm>
            <a:custGeom>
              <a:rect b="b" l="l" r="r" t="t"/>
              <a:pathLst>
                <a:path extrusionOk="0" h="1660" w="148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36" name="Google Shape;236;p29"/>
          <p:cNvSpPr/>
          <p:nvPr/>
        </p:nvSpPr>
        <p:spPr>
          <a:xfrm>
            <a:off x="3805370" y="743883"/>
            <a:ext cx="1304700" cy="3513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9"/>
          <p:cNvSpPr txBox="1"/>
          <p:nvPr/>
        </p:nvSpPr>
        <p:spPr>
          <a:xfrm>
            <a:off x="3803487" y="759129"/>
            <a:ext cx="13047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</a:t>
            </a:r>
            <a:endParaRPr sz="20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38" name="Google Shape;238;p29"/>
          <p:cNvGrpSpPr/>
          <p:nvPr/>
        </p:nvGrpSpPr>
        <p:grpSpPr>
          <a:xfrm>
            <a:off x="3847786" y="806996"/>
            <a:ext cx="251250" cy="255248"/>
            <a:chOff x="3282325" y="2035675"/>
            <a:chExt cx="459575" cy="454825"/>
          </a:xfrm>
        </p:grpSpPr>
        <p:sp>
          <p:nvSpPr>
            <p:cNvPr id="239" name="Google Shape;239;p29"/>
            <p:cNvSpPr/>
            <p:nvPr/>
          </p:nvSpPr>
          <p:spPr>
            <a:xfrm>
              <a:off x="3337050" y="2234125"/>
              <a:ext cx="85925" cy="206325"/>
            </a:xfrm>
            <a:custGeom>
              <a:rect b="b" l="l" r="r" t="t"/>
              <a:pathLst>
                <a:path extrusionOk="0" h="8253" w="3437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3451275" y="2175475"/>
              <a:ext cx="84925" cy="264975"/>
            </a:xfrm>
            <a:custGeom>
              <a:rect b="b" l="l" r="r" t="t"/>
              <a:pathLst>
                <a:path extrusionOk="0" h="10599" w="3397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1" name="Google Shape;241;p29"/>
            <p:cNvSpPr/>
            <p:nvPr/>
          </p:nvSpPr>
          <p:spPr>
            <a:xfrm>
              <a:off x="3564500" y="2116825"/>
              <a:ext cx="84950" cy="323625"/>
            </a:xfrm>
            <a:custGeom>
              <a:rect b="b" l="l" r="r" t="t"/>
              <a:pathLst>
                <a:path extrusionOk="0" h="12945" w="3398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2" name="Google Shape;242;p29"/>
            <p:cNvSpPr/>
            <p:nvPr/>
          </p:nvSpPr>
          <p:spPr>
            <a:xfrm>
              <a:off x="3282325" y="2035675"/>
              <a:ext cx="459575" cy="454825"/>
            </a:xfrm>
            <a:custGeom>
              <a:rect b="b" l="l" r="r" t="t"/>
              <a:pathLst>
                <a:path extrusionOk="0" h="18193" w="18383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43" name="Google Shape;243;p29"/>
          <p:cNvSpPr/>
          <p:nvPr/>
        </p:nvSpPr>
        <p:spPr>
          <a:xfrm>
            <a:off x="3805331" y="1230981"/>
            <a:ext cx="1304700" cy="365400"/>
          </a:xfrm>
          <a:prstGeom prst="rect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9"/>
          <p:cNvSpPr txBox="1"/>
          <p:nvPr/>
        </p:nvSpPr>
        <p:spPr>
          <a:xfrm>
            <a:off x="3798624" y="1229825"/>
            <a:ext cx="13047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41B4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</a:t>
            </a:r>
            <a:endParaRPr sz="1200">
              <a:solidFill>
                <a:srgbClr val="741B47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3864334" y="1284974"/>
            <a:ext cx="256566" cy="252414"/>
          </a:xfrm>
          <a:custGeom>
            <a:rect b="b" l="l" r="r" t="t"/>
            <a:pathLst>
              <a:path extrusionOk="0" h="17991" w="18772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246" name="Google Shape;246;p29"/>
          <p:cNvSpPr/>
          <p:nvPr/>
        </p:nvSpPr>
        <p:spPr>
          <a:xfrm>
            <a:off x="3805370" y="257941"/>
            <a:ext cx="1304700" cy="3513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9"/>
          <p:cNvSpPr txBox="1"/>
          <p:nvPr/>
        </p:nvSpPr>
        <p:spPr>
          <a:xfrm>
            <a:off x="3805245" y="257941"/>
            <a:ext cx="13047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</a:t>
            </a:r>
            <a:endParaRPr sz="20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48" name="Google Shape;248;p29"/>
          <p:cNvGrpSpPr/>
          <p:nvPr/>
        </p:nvGrpSpPr>
        <p:grpSpPr>
          <a:xfrm>
            <a:off x="3825427" y="281967"/>
            <a:ext cx="295184" cy="302726"/>
            <a:chOff x="5053900" y="2021500"/>
            <a:chExt cx="483750" cy="483125"/>
          </a:xfrm>
        </p:grpSpPr>
        <p:sp>
          <p:nvSpPr>
            <p:cNvPr id="249" name="Google Shape;249;p29"/>
            <p:cNvSpPr/>
            <p:nvPr/>
          </p:nvSpPr>
          <p:spPr>
            <a:xfrm>
              <a:off x="5281350" y="2078100"/>
              <a:ext cx="127375" cy="127350"/>
            </a:xfrm>
            <a:custGeom>
              <a:rect b="b" l="l" r="r" t="t"/>
              <a:pathLst>
                <a:path extrusionOk="0" h="5094" w="5095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5118000" y="2021500"/>
              <a:ext cx="368700" cy="483125"/>
            </a:xfrm>
            <a:custGeom>
              <a:rect b="b" l="l" r="r" t="t"/>
              <a:pathLst>
                <a:path extrusionOk="0" h="19325" w="14748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50539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5056850" y="2096550"/>
              <a:ext cx="50750" cy="48025"/>
            </a:xfrm>
            <a:custGeom>
              <a:rect b="b" l="l" r="r" t="t"/>
              <a:pathLst>
                <a:path extrusionOk="0" h="1921" w="203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5056400" y="2266400"/>
              <a:ext cx="51200" cy="48350"/>
            </a:xfrm>
            <a:custGeom>
              <a:rect b="b" l="l" r="r" t="t"/>
              <a:pathLst>
                <a:path extrusionOk="0" h="1934" w="2048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54804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5479800" y="209655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5483350" y="226640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57" name="Google Shape;257;p29"/>
          <p:cNvSpPr txBox="1"/>
          <p:nvPr/>
        </p:nvSpPr>
        <p:spPr>
          <a:xfrm>
            <a:off x="458450" y="3192678"/>
            <a:ext cx="82203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Time-Bound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9"/>
          <p:cNvSpPr txBox="1"/>
          <p:nvPr/>
        </p:nvSpPr>
        <p:spPr>
          <a:xfrm>
            <a:off x="507375" y="3541900"/>
            <a:ext cx="41076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Define FPGA architecture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Integrate custom FPGA board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Complete hardware/PCB design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Demonstrate FPGA reconfigurability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Develop software environment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5483350" y="1585875"/>
            <a:ext cx="31266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Relevant</a:t>
            </a:r>
            <a:endParaRPr sz="20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5483350" y="353544"/>
            <a:ext cx="3016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Capable of Doing It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Hatchery Advisors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CPP Staff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Mentors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Textbooks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5483350" y="124944"/>
            <a:ext cx="3016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C242A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Attainable</a:t>
            </a:r>
            <a:endParaRPr sz="1800">
              <a:solidFill>
                <a:srgbClr val="7C242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527250" y="143286"/>
            <a:ext cx="3016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Specific</a:t>
            </a:r>
            <a:endParaRPr sz="20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527250" y="412820"/>
            <a:ext cx="3198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Comfortable to Hold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Intuitive to Use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Strong Performance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Efficient for All-Day Use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Snappy and Responsive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Customizable, Repairable, and Upgradable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527250" y="2361378"/>
            <a:ext cx="301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User-Defined in a Poll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Performance Testing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Real World Testing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65" name="Google Shape;265;p29"/>
          <p:cNvSpPr txBox="1"/>
          <p:nvPr/>
        </p:nvSpPr>
        <p:spPr>
          <a:xfrm>
            <a:off x="527250" y="2132778"/>
            <a:ext cx="3016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Measureable</a:t>
            </a:r>
            <a:endParaRPr sz="2000">
              <a:solidFill>
                <a:srgbClr val="7C242A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5372000" y="1888469"/>
            <a:ext cx="3016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Demystify 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Technical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Knowledge</a:t>
            </a: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for Smartphones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Build Phone from Scratch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Prove Students Can Do It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4614975" y="3633375"/>
            <a:ext cx="41076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Optimize system performance [May-June]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Test real-world use cases [May-June]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Document process and challenges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Disseminate results (publications, open-source)[]</a:t>
            </a:r>
            <a:endParaRPr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Integrated Master Schedule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1" title="Screenshot 2025-05-26 1632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0"/>
            <a:ext cx="8299275" cy="517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 txBox="1"/>
          <p:nvPr>
            <p:ph type="title"/>
          </p:nvPr>
        </p:nvSpPr>
        <p:spPr>
          <a:xfrm>
            <a:off x="504750" y="-381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2"/>
                </a:solidFill>
              </a:rPr>
              <a:t>Budget</a:t>
            </a:r>
            <a:endParaRPr sz="2500">
              <a:solidFill>
                <a:schemeClr val="accent2"/>
              </a:solidFill>
            </a:endParaRPr>
          </a:p>
        </p:txBody>
      </p:sp>
      <p:graphicFrame>
        <p:nvGraphicFramePr>
          <p:cNvPr id="283" name="Google Shape;283;p32"/>
          <p:cNvGraphicFramePr/>
          <p:nvPr/>
        </p:nvGraphicFramePr>
        <p:xfrm>
          <a:off x="167300" y="51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{36CD25A9-6C87-411D-BF46-77474902BF59}</a:tableStyleId>
              </a:tblPr>
              <a:tblGrid>
                <a:gridCol w="741275"/>
                <a:gridCol w="741275"/>
                <a:gridCol w="18525"/>
                <a:gridCol w="741275"/>
                <a:gridCol w="741275"/>
                <a:gridCol w="1510350"/>
                <a:gridCol w="787600"/>
                <a:gridCol w="379900"/>
                <a:gridCol w="379900"/>
                <a:gridCol w="379900"/>
                <a:gridCol w="379900"/>
                <a:gridCol w="379900"/>
                <a:gridCol w="379900"/>
                <a:gridCol w="379900"/>
                <a:gridCol w="324300"/>
                <a:gridCol w="602300"/>
              </a:tblGrid>
              <a:tr h="243900">
                <a:tc gridSpan="1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CEB888"/>
                          </a:solidFill>
                        </a:rPr>
                        <a:t>Milestone 1</a:t>
                      </a:r>
                      <a:endParaRPr b="1" sz="1800">
                        <a:solidFill>
                          <a:srgbClr val="CEB88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7B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420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Type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Description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Qty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Budgeted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942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Liquid Crystal Display (LCD) Display Module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$30.00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$36.00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$51.00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Near Field Communication (NFC) Controller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$60.00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$72.00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$102.00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System on Chips (SoC)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$240.00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$288.00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$288.00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Memory Chip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$28.00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$33.60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$47.60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2887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Radio Frequency (RF) Chip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$7.00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$8.40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$11.90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FPGA Development Board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4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$520.00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$572.00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$572.00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Battery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$30.00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$36.00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$51.00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2887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Connectors (Audio Jacks, USB-C, Micro SD, HDMI)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4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$28.00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$38.00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Microphone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$12.00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$22.00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PCB Manufacturer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$700.00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$800.00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$800.00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Copper Heat Pipes and Spreader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$60.00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$67.00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$67.00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Thermal Pads and Paste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$40.00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$44.00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Camera Module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4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$30.00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$42.00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$42.00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Miscellaneous Components (Capacitors, Resistors, etc.)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$200.00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$240.00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$210.00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0002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ESP-32 Modules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$55.00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$65.00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$80.00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0002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Total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$2,432.50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3"/>
          <p:cNvSpPr txBox="1"/>
          <p:nvPr>
            <p:ph type="title"/>
          </p:nvPr>
        </p:nvSpPr>
        <p:spPr>
          <a:xfrm>
            <a:off x="504750" y="-381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2"/>
                </a:solidFill>
              </a:rPr>
              <a:t>Budget</a:t>
            </a:r>
            <a:endParaRPr sz="2500">
              <a:solidFill>
                <a:schemeClr val="accent2"/>
              </a:solidFill>
            </a:endParaRPr>
          </a:p>
        </p:txBody>
      </p:sp>
      <p:graphicFrame>
        <p:nvGraphicFramePr>
          <p:cNvPr id="289" name="Google Shape;289;p33"/>
          <p:cNvGraphicFramePr/>
          <p:nvPr/>
        </p:nvGraphicFramePr>
        <p:xfrm>
          <a:off x="167300" y="51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{36CD25A9-6C87-411D-BF46-77474902BF59}</a:tableStyleId>
              </a:tblPr>
              <a:tblGrid>
                <a:gridCol w="741275"/>
                <a:gridCol w="741275"/>
                <a:gridCol w="18525"/>
                <a:gridCol w="741275"/>
                <a:gridCol w="741275"/>
                <a:gridCol w="1510350"/>
                <a:gridCol w="787600"/>
                <a:gridCol w="379900"/>
                <a:gridCol w="379900"/>
                <a:gridCol w="379900"/>
                <a:gridCol w="379900"/>
                <a:gridCol w="379900"/>
                <a:gridCol w="379900"/>
                <a:gridCol w="379900"/>
                <a:gridCol w="324300"/>
                <a:gridCol w="602300"/>
              </a:tblGrid>
              <a:tr h="243900">
                <a:tc gridSpan="1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CEB888"/>
                          </a:solidFill>
                        </a:rPr>
                        <a:t>Milestone 2</a:t>
                      </a:r>
                      <a:endParaRPr b="1" sz="1800">
                        <a:solidFill>
                          <a:srgbClr val="CEB88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7B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420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Type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Description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Qty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Budgeted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942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Stipends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PCB Manufacturer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$700.00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$800.00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$800.00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Heat Gun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$150.00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$165.00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$165.00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chemeClr val="hlink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  <a:hlinkClick r:id="rId3"/>
                        </a:rPr>
                        <a:t>USB/Cable Tester</a:t>
                      </a:r>
                      <a:endParaRPr sz="1200" u="sng">
                        <a:solidFill>
                          <a:schemeClr val="hlink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$79.99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$90.00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$120.00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chemeClr val="hlink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  <a:hlinkClick r:id="rId4"/>
                        </a:rPr>
                        <a:t>Multimeter and Clamp Meter Kit</a:t>
                      </a:r>
                      <a:endParaRPr sz="1200" u="sng">
                        <a:solidFill>
                          <a:schemeClr val="hlink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$384.93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$400.00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$420.00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2887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Hot Plate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$60.00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$70.00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$90.00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Suplies &amp; Equipment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Addiotonal Equipment/Components (Budget Room)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$750.00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Supplies &amp; Equipment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Aluminum Phone Frame (Raw Aluminum, Finishing)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$475.00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$522.50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$600.00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2887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Total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$2,945.00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 txBox="1"/>
          <p:nvPr>
            <p:ph type="title"/>
          </p:nvPr>
        </p:nvSpPr>
        <p:spPr>
          <a:xfrm>
            <a:off x="504750" y="-381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2"/>
                </a:solidFill>
              </a:rPr>
              <a:t>Budget</a:t>
            </a:r>
            <a:endParaRPr sz="2500">
              <a:solidFill>
                <a:schemeClr val="accent2"/>
              </a:solidFill>
            </a:endParaRPr>
          </a:p>
        </p:txBody>
      </p:sp>
      <p:graphicFrame>
        <p:nvGraphicFramePr>
          <p:cNvPr id="295" name="Google Shape;295;p34"/>
          <p:cNvGraphicFramePr/>
          <p:nvPr/>
        </p:nvGraphicFramePr>
        <p:xfrm>
          <a:off x="167300" y="51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{36CD25A9-6C87-411D-BF46-77474902BF59}</a:tableStyleId>
              </a:tblPr>
              <a:tblGrid>
                <a:gridCol w="741275"/>
                <a:gridCol w="741275"/>
                <a:gridCol w="18525"/>
                <a:gridCol w="741275"/>
                <a:gridCol w="741275"/>
                <a:gridCol w="1510350"/>
                <a:gridCol w="787600"/>
                <a:gridCol w="379900"/>
                <a:gridCol w="379900"/>
                <a:gridCol w="379900"/>
                <a:gridCol w="379900"/>
                <a:gridCol w="379900"/>
                <a:gridCol w="379900"/>
                <a:gridCol w="379900"/>
                <a:gridCol w="324300"/>
                <a:gridCol w="602300"/>
              </a:tblGrid>
              <a:tr h="243900">
                <a:tc gridSpan="1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CEB888"/>
                          </a:solidFill>
                        </a:rPr>
                        <a:t>Milestone 3</a:t>
                      </a:r>
                      <a:endParaRPr b="1" sz="1800">
                        <a:solidFill>
                          <a:srgbClr val="CEB88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7B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9420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Type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Description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Qty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Material Cost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Tax + Shipping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Budgeted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942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Stipends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Project Manager Stipend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 row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$1,872.50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  <a:tc rowSpan="2"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Stipends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Team Members Stipend (Tentative) [Extra Room in Budget]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 vMerge="1"/>
                <a:tc hMerge="1" vMerge="1"/>
                <a:tc hMerge="1" v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2887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2887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Total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$3,345.50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$1,872.50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1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CEB888"/>
                          </a:solidFill>
                        </a:rPr>
                        <a:t>TOTALS</a:t>
                      </a:r>
                      <a:endParaRPr b="1" sz="1200">
                        <a:solidFill>
                          <a:srgbClr val="CEB888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7B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43900">
                <a:tc gridSpan="6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How many student team members do you have?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Milestone 1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 gridSpan="6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Allotted Budget</a:t>
                      </a:r>
                      <a:endParaRPr b="1"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$8,000.00</a:t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Total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$2,432.50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Milestone 2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Total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$2,945.00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Milestone 3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4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Total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$1,872.50</a:t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Entire Project</a:t>
                      </a:r>
                      <a:endParaRPr b="1" sz="12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E7CC3"/>
                </a:solidFill>
              </a:rPr>
              <a:t>Team Breakdown Structure</a:t>
            </a:r>
            <a:endParaRPr>
              <a:solidFill>
                <a:srgbClr val="8E7CC3"/>
              </a:solidFill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3925800" y="1162550"/>
            <a:ext cx="1292400" cy="48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Roboto"/>
                <a:ea typeface="Roboto"/>
                <a:cs typeface="Roboto"/>
                <a:sym typeface="Roboto"/>
              </a:rPr>
              <a:t>Project Manager</a:t>
            </a:r>
            <a:endParaRPr sz="11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Sunny Nguyen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3836700" y="2490563"/>
            <a:ext cx="1470600" cy="48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Roboto"/>
                <a:ea typeface="Roboto"/>
                <a:cs typeface="Roboto"/>
                <a:sym typeface="Roboto"/>
              </a:rPr>
              <a:t>Hardware Egr</a:t>
            </a:r>
            <a:endParaRPr sz="10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Max Gross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5607950" y="2490575"/>
            <a:ext cx="1470600" cy="48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Roboto"/>
                <a:ea typeface="Roboto"/>
                <a:cs typeface="Roboto"/>
                <a:sym typeface="Roboto"/>
              </a:rPr>
              <a:t>System Egr Leads</a:t>
            </a:r>
            <a:endParaRPr sz="10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Hoanh Lam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294200" y="2490575"/>
            <a:ext cx="1470600" cy="48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Roboto"/>
                <a:ea typeface="Roboto"/>
                <a:cs typeface="Roboto"/>
                <a:sym typeface="Roboto"/>
              </a:rPr>
              <a:t>Business Coordinator</a:t>
            </a:r>
            <a:endParaRPr sz="10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Russell Chung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2065450" y="2490575"/>
            <a:ext cx="1470600" cy="48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Roboto"/>
                <a:ea typeface="Roboto"/>
                <a:cs typeface="Roboto"/>
                <a:sym typeface="Roboto"/>
              </a:rPr>
              <a:t>SoC Engineer</a:t>
            </a:r>
            <a:endParaRPr sz="10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Andy Zhang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5607950" y="3056225"/>
            <a:ext cx="1470600" cy="48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Roboto"/>
                <a:ea typeface="Roboto"/>
                <a:cs typeface="Roboto"/>
                <a:sym typeface="Roboto"/>
              </a:rPr>
              <a:t>System Egr </a:t>
            </a:r>
            <a:endParaRPr sz="10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Nathan Alquicira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3836700" y="3056213"/>
            <a:ext cx="1470600" cy="48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Roboto"/>
                <a:ea typeface="Roboto"/>
                <a:cs typeface="Roboto"/>
                <a:sym typeface="Roboto"/>
              </a:rPr>
              <a:t>Enclosure Engineer</a:t>
            </a:r>
            <a:endParaRPr sz="10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Viren Kumar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7379200" y="2490575"/>
            <a:ext cx="1470600" cy="48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Roboto"/>
                <a:ea typeface="Roboto"/>
                <a:cs typeface="Roboto"/>
                <a:sym typeface="Roboto"/>
              </a:rPr>
              <a:t>Back-end Developer</a:t>
            </a:r>
            <a:endParaRPr sz="10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Danny Tran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5"/>
          <p:cNvSpPr/>
          <p:nvPr/>
        </p:nvSpPr>
        <p:spPr>
          <a:xfrm>
            <a:off x="7379200" y="3056225"/>
            <a:ext cx="1470600" cy="48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Roboto"/>
                <a:ea typeface="Roboto"/>
                <a:cs typeface="Roboto"/>
                <a:sym typeface="Roboto"/>
              </a:rPr>
              <a:t>Front</a:t>
            </a:r>
            <a:r>
              <a:rPr lang="en" sz="1000" u="sng">
                <a:latin typeface="Roboto"/>
                <a:ea typeface="Roboto"/>
                <a:cs typeface="Roboto"/>
                <a:sym typeface="Roboto"/>
              </a:rPr>
              <a:t>-end Developer</a:t>
            </a:r>
            <a:endParaRPr sz="10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Izaiah Ortiz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35"/>
          <p:cNvSpPr/>
          <p:nvPr/>
        </p:nvSpPr>
        <p:spPr>
          <a:xfrm>
            <a:off x="294200" y="2018675"/>
            <a:ext cx="1470600" cy="3174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Business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35"/>
          <p:cNvSpPr/>
          <p:nvPr/>
        </p:nvSpPr>
        <p:spPr>
          <a:xfrm>
            <a:off x="5607950" y="2018675"/>
            <a:ext cx="1470600" cy="3174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5"/>
          <p:cNvSpPr/>
          <p:nvPr/>
        </p:nvSpPr>
        <p:spPr>
          <a:xfrm>
            <a:off x="7379200" y="2018675"/>
            <a:ext cx="1470600" cy="3174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35"/>
          <p:cNvSpPr/>
          <p:nvPr/>
        </p:nvSpPr>
        <p:spPr>
          <a:xfrm>
            <a:off x="2065450" y="2033500"/>
            <a:ext cx="3241800" cy="3174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Hardware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35"/>
          <p:cNvSpPr/>
          <p:nvPr/>
        </p:nvSpPr>
        <p:spPr>
          <a:xfrm>
            <a:off x="2065450" y="3056225"/>
            <a:ext cx="1470600" cy="48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Roboto"/>
                <a:ea typeface="Roboto"/>
                <a:cs typeface="Roboto"/>
                <a:sym typeface="Roboto"/>
              </a:rPr>
              <a:t>RF Comm</a:t>
            </a:r>
            <a:endParaRPr sz="10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Angelo Duenas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Meet The Teams: The Hardware Teams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320" name="Google Shape;320;p36"/>
          <p:cNvGrpSpPr/>
          <p:nvPr/>
        </p:nvGrpSpPr>
        <p:grpSpPr>
          <a:xfrm flipH="1" rot="5400000">
            <a:off x="2529429" y="-1418925"/>
            <a:ext cx="4056715" cy="8715607"/>
            <a:chOff x="3574823" y="840574"/>
            <a:chExt cx="1994354" cy="4071952"/>
          </a:xfrm>
        </p:grpSpPr>
        <p:sp>
          <p:nvSpPr>
            <p:cNvPr id="321" name="Google Shape;321;p36"/>
            <p:cNvSpPr/>
            <p:nvPr/>
          </p:nvSpPr>
          <p:spPr>
            <a:xfrm>
              <a:off x="3595856" y="840574"/>
              <a:ext cx="1952041" cy="4071952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3652300" y="906174"/>
              <a:ext cx="1839166" cy="3940775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4070851" y="840576"/>
              <a:ext cx="1002057" cy="230689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4" name="Google Shape;324;p36"/>
            <p:cNvSpPr/>
            <p:nvPr/>
          </p:nvSpPr>
          <p:spPr>
            <a:xfrm>
              <a:off x="3610963" y="856426"/>
              <a:ext cx="1923080" cy="4040272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5" name="Google Shape;325;p36"/>
            <p:cNvSpPr/>
            <p:nvPr/>
          </p:nvSpPr>
          <p:spPr>
            <a:xfrm>
              <a:off x="4779510" y="954685"/>
              <a:ext cx="43813" cy="42571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4429299" y="956913"/>
              <a:ext cx="285157" cy="37868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7" name="Google Shape;327;p36"/>
            <p:cNvSpPr/>
            <p:nvPr/>
          </p:nvSpPr>
          <p:spPr>
            <a:xfrm>
              <a:off x="5191940" y="972753"/>
              <a:ext cx="75250" cy="58411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8" name="Google Shape;328;p36"/>
            <p:cNvSpPr/>
            <p:nvPr/>
          </p:nvSpPr>
          <p:spPr>
            <a:xfrm>
              <a:off x="5108275" y="981168"/>
              <a:ext cx="65596" cy="48758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29" name="Google Shape;329;p36"/>
            <p:cNvSpPr/>
            <p:nvPr/>
          </p:nvSpPr>
          <p:spPr>
            <a:xfrm>
              <a:off x="5286497" y="982405"/>
              <a:ext cx="98270" cy="47521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0" name="Google Shape;330;p36"/>
            <p:cNvSpPr/>
            <p:nvPr/>
          </p:nvSpPr>
          <p:spPr>
            <a:xfrm>
              <a:off x="5491205" y="1209119"/>
              <a:ext cx="57428" cy="28216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1" name="Google Shape;331;p36"/>
            <p:cNvSpPr/>
            <p:nvPr/>
          </p:nvSpPr>
          <p:spPr>
            <a:xfrm>
              <a:off x="3596606" y="1209119"/>
              <a:ext cx="55942" cy="28216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5548384" y="1795949"/>
              <a:ext cx="20793" cy="301956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3" name="Google Shape;333;p36"/>
            <p:cNvSpPr/>
            <p:nvPr/>
          </p:nvSpPr>
          <p:spPr>
            <a:xfrm>
              <a:off x="3574823" y="2067460"/>
              <a:ext cx="22030" cy="303194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3574823" y="1690265"/>
              <a:ext cx="22030" cy="303441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5" name="Google Shape;335;p36"/>
            <p:cNvSpPr/>
            <p:nvPr/>
          </p:nvSpPr>
          <p:spPr>
            <a:xfrm>
              <a:off x="3574823" y="1419991"/>
              <a:ext cx="22030" cy="94794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5491205" y="4514525"/>
              <a:ext cx="57428" cy="29453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7" name="Google Shape;337;p36"/>
            <p:cNvSpPr/>
            <p:nvPr/>
          </p:nvSpPr>
          <p:spPr>
            <a:xfrm>
              <a:off x="3596606" y="4514525"/>
              <a:ext cx="55942" cy="29453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338" name="Google Shape;338;p36"/>
          <p:cNvSpPr/>
          <p:nvPr/>
        </p:nvSpPr>
        <p:spPr>
          <a:xfrm>
            <a:off x="690925" y="1256675"/>
            <a:ext cx="7437000" cy="3174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Hardware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690926" y="1713875"/>
            <a:ext cx="7437000" cy="28758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" name="Google Shape;340;p36"/>
          <p:cNvCxnSpPr>
            <a:endCxn id="339" idx="2"/>
          </p:cNvCxnSpPr>
          <p:nvPr/>
        </p:nvCxnSpPr>
        <p:spPr>
          <a:xfrm>
            <a:off x="4408826" y="1718375"/>
            <a:ext cx="600" cy="28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6"/>
          <p:cNvCxnSpPr>
            <a:stCxn id="339" idx="3"/>
            <a:endCxn id="339" idx="1"/>
          </p:cNvCxnSpPr>
          <p:nvPr/>
        </p:nvCxnSpPr>
        <p:spPr>
          <a:xfrm rot="10800000">
            <a:off x="690926" y="3151775"/>
            <a:ext cx="74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6"/>
          <p:cNvSpPr txBox="1"/>
          <p:nvPr/>
        </p:nvSpPr>
        <p:spPr>
          <a:xfrm>
            <a:off x="690925" y="1718375"/>
            <a:ext cx="371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System on A Chip</a:t>
            </a:r>
            <a:endParaRPr b="1" u="sng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6"/>
          <p:cNvSpPr txBox="1"/>
          <p:nvPr/>
        </p:nvSpPr>
        <p:spPr>
          <a:xfrm>
            <a:off x="4409425" y="3151775"/>
            <a:ext cx="371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Enclosure &amp; Thermals</a:t>
            </a:r>
            <a:endParaRPr b="1" u="sng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6"/>
          <p:cNvSpPr txBox="1"/>
          <p:nvPr/>
        </p:nvSpPr>
        <p:spPr>
          <a:xfrm>
            <a:off x="4409425" y="1718375"/>
            <a:ext cx="371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CFE2F3"/>
                </a:solidFill>
                <a:latin typeface="Roboto"/>
                <a:ea typeface="Roboto"/>
                <a:cs typeface="Roboto"/>
                <a:sym typeface="Roboto"/>
              </a:rPr>
              <a:t>Hardware Design</a:t>
            </a:r>
            <a:endParaRPr b="1" u="sng">
              <a:solidFill>
                <a:srgbClr val="CFE2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690925" y="3166175"/>
            <a:ext cx="371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D9D2E9"/>
                </a:solidFill>
                <a:latin typeface="Roboto"/>
                <a:ea typeface="Roboto"/>
                <a:cs typeface="Roboto"/>
                <a:sym typeface="Roboto"/>
              </a:rPr>
              <a:t>RF Communications</a:t>
            </a:r>
            <a:endParaRPr b="1" u="sng">
              <a:solidFill>
                <a:srgbClr val="D9D2E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6"/>
          <p:cNvSpPr txBox="1"/>
          <p:nvPr/>
        </p:nvSpPr>
        <p:spPr>
          <a:xfrm>
            <a:off x="893050" y="2110050"/>
            <a:ext cx="34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Designs CPU, GPU, and peripherals.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Uses SystemVerilog for implementation.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Tests and verifies live circuits.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47" name="Google Shape;347;p36"/>
          <p:cNvSpPr txBox="1"/>
          <p:nvPr/>
        </p:nvSpPr>
        <p:spPr>
          <a:xfrm>
            <a:off x="4550650" y="3483575"/>
            <a:ext cx="34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Manages smartphone heat dissipation.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Designs casing for cooling efficiency.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Uses CAD and thermal analysis.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48" name="Google Shape;348;p36"/>
          <p:cNvSpPr txBox="1"/>
          <p:nvPr/>
        </p:nvSpPr>
        <p:spPr>
          <a:xfrm>
            <a:off x="893050" y="3483575"/>
            <a:ext cx="34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Defines RF subsystem architecture.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Works on antennas and transceivers.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Develops RF filters and drivers.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Integrates RF with custom SoC.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49" name="Google Shape;349;p36"/>
          <p:cNvSpPr txBox="1"/>
          <p:nvPr/>
        </p:nvSpPr>
        <p:spPr>
          <a:xfrm>
            <a:off x="4550650" y="2035775"/>
            <a:ext cx="34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Designs PCBs.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Designs Power Management Systems.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Designs S</a:t>
            </a:r>
            <a:r>
              <a:rPr b="1" lang="en" sz="1200">
                <a:solidFill>
                  <a:schemeClr val="lt1"/>
                </a:solidFill>
              </a:rPr>
              <a:t>chematics 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</a:rPr>
              <a:t>Meet The Teams: The Software, Systems, and Business Teams</a:t>
            </a:r>
            <a:endParaRPr>
              <a:solidFill>
                <a:schemeClr val="accen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355" name="Google Shape;355;p37"/>
          <p:cNvGrpSpPr/>
          <p:nvPr/>
        </p:nvGrpSpPr>
        <p:grpSpPr>
          <a:xfrm flipH="1" rot="5400000">
            <a:off x="2529429" y="-1418925"/>
            <a:ext cx="4056715" cy="8715607"/>
            <a:chOff x="3574823" y="840574"/>
            <a:chExt cx="1994354" cy="4071952"/>
          </a:xfrm>
        </p:grpSpPr>
        <p:sp>
          <p:nvSpPr>
            <p:cNvPr id="356" name="Google Shape;356;p37"/>
            <p:cNvSpPr/>
            <p:nvPr/>
          </p:nvSpPr>
          <p:spPr>
            <a:xfrm>
              <a:off x="3595856" y="840574"/>
              <a:ext cx="1952041" cy="4071952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3652300" y="906174"/>
              <a:ext cx="1839166" cy="3940775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4070851" y="840576"/>
              <a:ext cx="1002057" cy="230689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3610963" y="856426"/>
              <a:ext cx="1923080" cy="4040272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4779510" y="954685"/>
              <a:ext cx="43813" cy="42571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1" name="Google Shape;361;p37"/>
            <p:cNvSpPr/>
            <p:nvPr/>
          </p:nvSpPr>
          <p:spPr>
            <a:xfrm>
              <a:off x="4429299" y="956913"/>
              <a:ext cx="285157" cy="37868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2" name="Google Shape;362;p37"/>
            <p:cNvSpPr/>
            <p:nvPr/>
          </p:nvSpPr>
          <p:spPr>
            <a:xfrm>
              <a:off x="5191940" y="972753"/>
              <a:ext cx="75250" cy="58411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5108275" y="981168"/>
              <a:ext cx="65596" cy="48758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5286497" y="982405"/>
              <a:ext cx="98270" cy="47521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5491205" y="1209119"/>
              <a:ext cx="57428" cy="28216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3596606" y="1209119"/>
              <a:ext cx="55942" cy="28216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5548384" y="1795949"/>
              <a:ext cx="20793" cy="301956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3574823" y="2067460"/>
              <a:ext cx="22030" cy="303194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3574823" y="1690265"/>
              <a:ext cx="22030" cy="303441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3574823" y="1419991"/>
              <a:ext cx="22030" cy="94794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5491205" y="4514525"/>
              <a:ext cx="57428" cy="29453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3596606" y="4514525"/>
              <a:ext cx="55942" cy="29453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373" name="Google Shape;373;p37"/>
          <p:cNvSpPr/>
          <p:nvPr/>
        </p:nvSpPr>
        <p:spPr>
          <a:xfrm>
            <a:off x="777900" y="1256675"/>
            <a:ext cx="4139400" cy="3174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7"/>
          <p:cNvSpPr/>
          <p:nvPr/>
        </p:nvSpPr>
        <p:spPr>
          <a:xfrm>
            <a:off x="777900" y="1713875"/>
            <a:ext cx="4139400" cy="28758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37"/>
          <p:cNvSpPr txBox="1"/>
          <p:nvPr/>
        </p:nvSpPr>
        <p:spPr>
          <a:xfrm>
            <a:off x="777925" y="1718375"/>
            <a:ext cx="4139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Operating System</a:t>
            </a:r>
            <a:endParaRPr b="1" u="sng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37"/>
          <p:cNvSpPr txBox="1"/>
          <p:nvPr/>
        </p:nvSpPr>
        <p:spPr>
          <a:xfrm>
            <a:off x="777900" y="3166175"/>
            <a:ext cx="4139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User Interface and Experience</a:t>
            </a:r>
            <a:endParaRPr b="1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7"/>
          <p:cNvSpPr/>
          <p:nvPr/>
        </p:nvSpPr>
        <p:spPr>
          <a:xfrm>
            <a:off x="5340700" y="1259600"/>
            <a:ext cx="2662800" cy="3174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Systems Engineering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5340700" y="1716800"/>
            <a:ext cx="2662800" cy="15240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" name="Google Shape;379;p37"/>
          <p:cNvCxnSpPr>
            <a:stCxn id="374" idx="3"/>
            <a:endCxn id="374" idx="1"/>
          </p:cNvCxnSpPr>
          <p:nvPr/>
        </p:nvCxnSpPr>
        <p:spPr>
          <a:xfrm rot="10800000">
            <a:off x="777900" y="3151775"/>
            <a:ext cx="413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7"/>
          <p:cNvSpPr/>
          <p:nvPr/>
        </p:nvSpPr>
        <p:spPr>
          <a:xfrm>
            <a:off x="5340700" y="3240800"/>
            <a:ext cx="2662800" cy="3174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Business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7"/>
          <p:cNvSpPr/>
          <p:nvPr/>
        </p:nvSpPr>
        <p:spPr>
          <a:xfrm>
            <a:off x="5340700" y="3545600"/>
            <a:ext cx="2662800" cy="1044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7"/>
          <p:cNvSpPr txBox="1"/>
          <p:nvPr/>
        </p:nvSpPr>
        <p:spPr>
          <a:xfrm>
            <a:off x="5340700" y="3547175"/>
            <a:ext cx="2662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Manages Finances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Works with Systems Engineering To Determine Whether Design Choices Fit in Budget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37"/>
          <p:cNvSpPr txBox="1"/>
          <p:nvPr/>
        </p:nvSpPr>
        <p:spPr>
          <a:xfrm>
            <a:off x="949575" y="2014450"/>
            <a:ext cx="362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Develops a custom operating system.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Builds and maintains smartphone apps.</a:t>
            </a:r>
            <a:endParaRPr b="1"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b="1" lang="en" sz="1200">
                <a:solidFill>
                  <a:schemeClr val="lt2"/>
                </a:solidFill>
              </a:rPr>
              <a:t>Optimizes performance, efficiency, security.</a:t>
            </a:r>
            <a:endParaRPr b="1" sz="1200">
              <a:solidFill>
                <a:schemeClr val="lt2"/>
              </a:solidFill>
            </a:endParaRPr>
          </a:p>
        </p:txBody>
      </p:sp>
      <p:sp>
        <p:nvSpPr>
          <p:cNvPr id="384" name="Google Shape;384;p37"/>
          <p:cNvSpPr txBox="1"/>
          <p:nvPr/>
        </p:nvSpPr>
        <p:spPr>
          <a:xfrm>
            <a:off x="949575" y="3497975"/>
            <a:ext cx="362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Designs intuitive smartphone interface.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</a:rPr>
              <a:t>Ensures smooth and responsive experience.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85" name="Google Shape;385;p37"/>
          <p:cNvSpPr txBox="1"/>
          <p:nvPr/>
        </p:nvSpPr>
        <p:spPr>
          <a:xfrm>
            <a:off x="5340700" y="1718375"/>
            <a:ext cx="2662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Aligns hardware and software teams.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Ensures seamless system integration.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Defines architecture, requirements, and constraints.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8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Project Milestones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391" name="Google Shape;391;p38"/>
          <p:cNvGrpSpPr/>
          <p:nvPr/>
        </p:nvGrpSpPr>
        <p:grpSpPr>
          <a:xfrm>
            <a:off x="6816248" y="769749"/>
            <a:ext cx="1994354" cy="4071952"/>
            <a:chOff x="3574823" y="840574"/>
            <a:chExt cx="1994354" cy="4071952"/>
          </a:xfrm>
        </p:grpSpPr>
        <p:sp>
          <p:nvSpPr>
            <p:cNvPr id="392" name="Google Shape;392;p38"/>
            <p:cNvSpPr/>
            <p:nvPr/>
          </p:nvSpPr>
          <p:spPr>
            <a:xfrm>
              <a:off x="3595856" y="840574"/>
              <a:ext cx="1952041" cy="4071952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3652300" y="906174"/>
              <a:ext cx="1839166" cy="3940775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4" name="Google Shape;394;p38"/>
            <p:cNvSpPr/>
            <p:nvPr/>
          </p:nvSpPr>
          <p:spPr>
            <a:xfrm>
              <a:off x="4070851" y="840576"/>
              <a:ext cx="1002057" cy="230689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5" name="Google Shape;395;p38"/>
            <p:cNvSpPr/>
            <p:nvPr/>
          </p:nvSpPr>
          <p:spPr>
            <a:xfrm>
              <a:off x="3610963" y="856426"/>
              <a:ext cx="1923080" cy="4040272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6" name="Google Shape;396;p38"/>
            <p:cNvSpPr/>
            <p:nvPr/>
          </p:nvSpPr>
          <p:spPr>
            <a:xfrm>
              <a:off x="4779510" y="954685"/>
              <a:ext cx="43813" cy="42571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7" name="Google Shape;397;p38"/>
            <p:cNvSpPr/>
            <p:nvPr/>
          </p:nvSpPr>
          <p:spPr>
            <a:xfrm>
              <a:off x="4429299" y="956913"/>
              <a:ext cx="285157" cy="37868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8" name="Google Shape;398;p38"/>
            <p:cNvSpPr/>
            <p:nvPr/>
          </p:nvSpPr>
          <p:spPr>
            <a:xfrm>
              <a:off x="4530044" y="1101517"/>
              <a:ext cx="83914" cy="103457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9" name="Google Shape;399;p38"/>
            <p:cNvSpPr/>
            <p:nvPr/>
          </p:nvSpPr>
          <p:spPr>
            <a:xfrm>
              <a:off x="4512964" y="1162155"/>
              <a:ext cx="117825" cy="69301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0" name="Google Shape;400;p38"/>
            <p:cNvSpPr/>
            <p:nvPr/>
          </p:nvSpPr>
          <p:spPr>
            <a:xfrm>
              <a:off x="5191940" y="972753"/>
              <a:ext cx="75250" cy="58411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1" name="Google Shape;401;p38"/>
            <p:cNvSpPr/>
            <p:nvPr/>
          </p:nvSpPr>
          <p:spPr>
            <a:xfrm>
              <a:off x="5108275" y="981168"/>
              <a:ext cx="65596" cy="48758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2" name="Google Shape;402;p38"/>
            <p:cNvSpPr/>
            <p:nvPr/>
          </p:nvSpPr>
          <p:spPr>
            <a:xfrm>
              <a:off x="5286497" y="982405"/>
              <a:ext cx="98270" cy="47521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3" name="Google Shape;403;p38"/>
            <p:cNvSpPr/>
            <p:nvPr/>
          </p:nvSpPr>
          <p:spPr>
            <a:xfrm>
              <a:off x="5491205" y="1209119"/>
              <a:ext cx="57428" cy="28216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4" name="Google Shape;404;p38"/>
            <p:cNvSpPr/>
            <p:nvPr/>
          </p:nvSpPr>
          <p:spPr>
            <a:xfrm>
              <a:off x="3596606" y="1209119"/>
              <a:ext cx="55942" cy="28216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5" name="Google Shape;405;p38"/>
            <p:cNvSpPr/>
            <p:nvPr/>
          </p:nvSpPr>
          <p:spPr>
            <a:xfrm>
              <a:off x="5548384" y="1795949"/>
              <a:ext cx="20793" cy="301956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6" name="Google Shape;406;p38"/>
            <p:cNvSpPr/>
            <p:nvPr/>
          </p:nvSpPr>
          <p:spPr>
            <a:xfrm>
              <a:off x="3574823" y="2067460"/>
              <a:ext cx="22030" cy="303194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3574823" y="1690265"/>
              <a:ext cx="22030" cy="303441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8" name="Google Shape;408;p38"/>
            <p:cNvSpPr/>
            <p:nvPr/>
          </p:nvSpPr>
          <p:spPr>
            <a:xfrm>
              <a:off x="3574823" y="1419991"/>
              <a:ext cx="22030" cy="94794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9" name="Google Shape;409;p38"/>
            <p:cNvSpPr/>
            <p:nvPr/>
          </p:nvSpPr>
          <p:spPr>
            <a:xfrm>
              <a:off x="5491205" y="4514525"/>
              <a:ext cx="57428" cy="29453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10" name="Google Shape;410;p38"/>
            <p:cNvSpPr/>
            <p:nvPr/>
          </p:nvSpPr>
          <p:spPr>
            <a:xfrm>
              <a:off x="3596606" y="4514525"/>
              <a:ext cx="55942" cy="29453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411" name="Google Shape;411;p38"/>
          <p:cNvSpPr/>
          <p:nvPr/>
        </p:nvSpPr>
        <p:spPr>
          <a:xfrm>
            <a:off x="6973112" y="1764975"/>
            <a:ext cx="794700" cy="10092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8"/>
          <p:cNvSpPr txBox="1"/>
          <p:nvPr/>
        </p:nvSpPr>
        <p:spPr>
          <a:xfrm>
            <a:off x="6973112" y="2287850"/>
            <a:ext cx="794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12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13" name="Google Shape;413;p38"/>
          <p:cNvGrpSpPr/>
          <p:nvPr/>
        </p:nvGrpSpPr>
        <p:grpSpPr>
          <a:xfrm>
            <a:off x="7200378" y="1967184"/>
            <a:ext cx="340168" cy="340186"/>
            <a:chOff x="1379065" y="3291711"/>
            <a:chExt cx="340168" cy="340186"/>
          </a:xfrm>
        </p:grpSpPr>
        <p:sp>
          <p:nvSpPr>
            <p:cNvPr id="414" name="Google Shape;414;p38"/>
            <p:cNvSpPr/>
            <p:nvPr/>
          </p:nvSpPr>
          <p:spPr>
            <a:xfrm>
              <a:off x="1379065" y="3291711"/>
              <a:ext cx="340168" cy="340186"/>
            </a:xfrm>
            <a:custGeom>
              <a:rect b="b" l="l" r="r" t="t"/>
              <a:pathLst>
                <a:path extrusionOk="0" h="19326" w="19325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5" name="Google Shape;415;p38"/>
            <p:cNvSpPr/>
            <p:nvPr/>
          </p:nvSpPr>
          <p:spPr>
            <a:xfrm>
              <a:off x="1439547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6" name="Google Shape;416;p38"/>
            <p:cNvSpPr/>
            <p:nvPr/>
          </p:nvSpPr>
          <p:spPr>
            <a:xfrm>
              <a:off x="1519269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7" name="Google Shape;417;p38"/>
            <p:cNvSpPr/>
            <p:nvPr/>
          </p:nvSpPr>
          <p:spPr>
            <a:xfrm>
              <a:off x="1598991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18" name="Google Shape;418;p38"/>
          <p:cNvSpPr/>
          <p:nvPr/>
        </p:nvSpPr>
        <p:spPr>
          <a:xfrm>
            <a:off x="7859050" y="1764975"/>
            <a:ext cx="794700" cy="10092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8"/>
          <p:cNvSpPr txBox="1"/>
          <p:nvPr/>
        </p:nvSpPr>
        <p:spPr>
          <a:xfrm>
            <a:off x="7859050" y="2287850"/>
            <a:ext cx="794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12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20" name="Google Shape;420;p38"/>
          <p:cNvGrpSpPr/>
          <p:nvPr/>
        </p:nvGrpSpPr>
        <p:grpSpPr>
          <a:xfrm>
            <a:off x="8086316" y="1996015"/>
            <a:ext cx="340168" cy="298978"/>
            <a:chOff x="2081650" y="2050750"/>
            <a:chExt cx="483125" cy="424625"/>
          </a:xfrm>
        </p:grpSpPr>
        <p:sp>
          <p:nvSpPr>
            <p:cNvPr id="421" name="Google Shape;421;p38"/>
            <p:cNvSpPr/>
            <p:nvPr/>
          </p:nvSpPr>
          <p:spPr>
            <a:xfrm>
              <a:off x="2081650" y="2050750"/>
              <a:ext cx="483125" cy="424625"/>
            </a:xfrm>
            <a:custGeom>
              <a:rect b="b" l="l" r="r" t="t"/>
              <a:pathLst>
                <a:path extrusionOk="0" h="16985" w="19325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22" name="Google Shape;422;p38"/>
            <p:cNvSpPr/>
            <p:nvPr/>
          </p:nvSpPr>
          <p:spPr>
            <a:xfrm>
              <a:off x="2136375" y="2292025"/>
              <a:ext cx="36400" cy="41975"/>
            </a:xfrm>
            <a:custGeom>
              <a:rect b="b" l="l" r="r" t="t"/>
              <a:pathLst>
                <a:path extrusionOk="0" h="1679" w="1456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23" name="Google Shape;423;p38"/>
            <p:cNvSpPr/>
            <p:nvPr/>
          </p:nvSpPr>
          <p:spPr>
            <a:xfrm>
              <a:off x="2296850" y="2220800"/>
              <a:ext cx="46075" cy="51650"/>
            </a:xfrm>
            <a:custGeom>
              <a:rect b="b" l="l" r="r" t="t"/>
              <a:pathLst>
                <a:path extrusionOk="0" h="2066" w="1843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24" name="Google Shape;424;p38"/>
            <p:cNvSpPr/>
            <p:nvPr/>
          </p:nvSpPr>
          <p:spPr>
            <a:xfrm>
              <a:off x="2158650" y="2216775"/>
              <a:ext cx="47275" cy="51425"/>
            </a:xfrm>
            <a:custGeom>
              <a:rect b="b" l="l" r="r" t="t"/>
              <a:pathLst>
                <a:path extrusionOk="0" h="2057" w="1891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25" name="Google Shape;425;p38"/>
            <p:cNvSpPr/>
            <p:nvPr/>
          </p:nvSpPr>
          <p:spPr>
            <a:xfrm>
              <a:off x="2426475" y="2255725"/>
              <a:ext cx="55875" cy="46900"/>
            </a:xfrm>
            <a:custGeom>
              <a:rect b="b" l="l" r="r" t="t"/>
              <a:pathLst>
                <a:path extrusionOk="0" h="1876" w="2235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26" name="Google Shape;426;p38"/>
            <p:cNvSpPr/>
            <p:nvPr/>
          </p:nvSpPr>
          <p:spPr>
            <a:xfrm>
              <a:off x="2473050" y="2192325"/>
              <a:ext cx="37000" cy="41500"/>
            </a:xfrm>
            <a:custGeom>
              <a:rect b="b" l="l" r="r" t="t"/>
              <a:pathLst>
                <a:path extrusionOk="0" h="1660" w="148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27" name="Google Shape;427;p38"/>
          <p:cNvSpPr/>
          <p:nvPr/>
        </p:nvSpPr>
        <p:spPr>
          <a:xfrm>
            <a:off x="6973125" y="2917500"/>
            <a:ext cx="794700" cy="1009200"/>
          </a:xfrm>
          <a:prstGeom prst="rect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8"/>
          <p:cNvSpPr txBox="1"/>
          <p:nvPr/>
        </p:nvSpPr>
        <p:spPr>
          <a:xfrm>
            <a:off x="6973125" y="3440375"/>
            <a:ext cx="794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41B4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1200">
              <a:solidFill>
                <a:srgbClr val="741B47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7205258" y="3123683"/>
            <a:ext cx="330434" cy="316687"/>
          </a:xfrm>
          <a:custGeom>
            <a:rect b="b" l="l" r="r" t="t"/>
            <a:pathLst>
              <a:path extrusionOk="0" h="17991" w="18772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7838925" y="2917500"/>
            <a:ext cx="794700" cy="10092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8"/>
          <p:cNvSpPr txBox="1"/>
          <p:nvPr/>
        </p:nvSpPr>
        <p:spPr>
          <a:xfrm>
            <a:off x="7838925" y="3440375"/>
            <a:ext cx="794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0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32" name="Google Shape;432;p38"/>
          <p:cNvGrpSpPr/>
          <p:nvPr/>
        </p:nvGrpSpPr>
        <p:grpSpPr>
          <a:xfrm>
            <a:off x="8046161" y="3099934"/>
            <a:ext cx="380228" cy="379736"/>
            <a:chOff x="5053900" y="2021500"/>
            <a:chExt cx="483750" cy="483125"/>
          </a:xfrm>
        </p:grpSpPr>
        <p:sp>
          <p:nvSpPr>
            <p:cNvPr id="433" name="Google Shape;433;p38"/>
            <p:cNvSpPr/>
            <p:nvPr/>
          </p:nvSpPr>
          <p:spPr>
            <a:xfrm>
              <a:off x="5281350" y="2078100"/>
              <a:ext cx="127375" cy="127350"/>
            </a:xfrm>
            <a:custGeom>
              <a:rect b="b" l="l" r="r" t="t"/>
              <a:pathLst>
                <a:path extrusionOk="0" h="5094" w="5095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34" name="Google Shape;434;p38"/>
            <p:cNvSpPr/>
            <p:nvPr/>
          </p:nvSpPr>
          <p:spPr>
            <a:xfrm>
              <a:off x="5118000" y="2021500"/>
              <a:ext cx="368700" cy="483125"/>
            </a:xfrm>
            <a:custGeom>
              <a:rect b="b" l="l" r="r" t="t"/>
              <a:pathLst>
                <a:path extrusionOk="0" h="19325" w="14748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50539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36" name="Google Shape;436;p38"/>
            <p:cNvSpPr/>
            <p:nvPr/>
          </p:nvSpPr>
          <p:spPr>
            <a:xfrm>
              <a:off x="5056850" y="2096550"/>
              <a:ext cx="50750" cy="48025"/>
            </a:xfrm>
            <a:custGeom>
              <a:rect b="b" l="l" r="r" t="t"/>
              <a:pathLst>
                <a:path extrusionOk="0" h="1921" w="203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37" name="Google Shape;437;p38"/>
            <p:cNvSpPr/>
            <p:nvPr/>
          </p:nvSpPr>
          <p:spPr>
            <a:xfrm>
              <a:off x="5056400" y="2266400"/>
              <a:ext cx="51200" cy="48350"/>
            </a:xfrm>
            <a:custGeom>
              <a:rect b="b" l="l" r="r" t="t"/>
              <a:pathLst>
                <a:path extrusionOk="0" h="1934" w="2048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38" name="Google Shape;438;p38"/>
            <p:cNvSpPr/>
            <p:nvPr/>
          </p:nvSpPr>
          <p:spPr>
            <a:xfrm>
              <a:off x="54804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39" name="Google Shape;439;p38"/>
            <p:cNvSpPr/>
            <p:nvPr/>
          </p:nvSpPr>
          <p:spPr>
            <a:xfrm>
              <a:off x="5479800" y="209655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0" name="Google Shape;440;p38"/>
            <p:cNvSpPr/>
            <p:nvPr/>
          </p:nvSpPr>
          <p:spPr>
            <a:xfrm>
              <a:off x="5483350" y="226640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41" name="Google Shape;441;p38"/>
          <p:cNvSpPr txBox="1"/>
          <p:nvPr/>
        </p:nvSpPr>
        <p:spPr>
          <a:xfrm>
            <a:off x="251150" y="1047625"/>
            <a:ext cx="62445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ira Sans Extra Condensed Medium"/>
              <a:buAutoNum type="arabicPeriod"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Define the complete FPGA-based smartphone architecture and its component specifications (FPGA, memory, peripherals).</a:t>
            </a:r>
            <a:endParaRPr sz="20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ira Sans Extra Condensed Medium"/>
              <a:buAutoNum type="arabicPeriod"/>
            </a:pPr>
            <a:r>
              <a:rPr lang="en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Develop and integrate the custom FPGA board with core components (processing core, memory, I/O).</a:t>
            </a:r>
            <a:endParaRPr sz="20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7C242A"/>
              </a:buClr>
              <a:buSzPts val="2000"/>
              <a:buFont typeface="Fira Sans Extra Condensed Medium"/>
              <a:buAutoNum type="arabicPeriod"/>
            </a:pPr>
            <a:r>
              <a:rPr lang="en" sz="2000">
                <a:solidFill>
                  <a:srgbClr val="7C242A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Complete hardware integration and PCB design. Demonstrate FPGA reconfigurability with basic applications.</a:t>
            </a:r>
            <a:endParaRPr sz="2000">
              <a:solidFill>
                <a:srgbClr val="7C242A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Fira Sans Extra Condensed Medium"/>
              <a:buAutoNum type="arabicPeriod"/>
            </a:pPr>
            <a:r>
              <a:rPr lang="en"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Develop and integrate the software environment for user programming and hardware reconfiguration.</a:t>
            </a:r>
            <a:endParaRPr sz="20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9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Project Milestones</a:t>
            </a:r>
            <a:endParaRPr>
              <a:solidFill>
                <a:schemeClr val="accent2"/>
              </a:solidFill>
            </a:endParaRPr>
          </a:p>
        </p:txBody>
      </p:sp>
      <p:grpSp>
        <p:nvGrpSpPr>
          <p:cNvPr id="447" name="Google Shape;447;p39"/>
          <p:cNvGrpSpPr/>
          <p:nvPr/>
        </p:nvGrpSpPr>
        <p:grpSpPr>
          <a:xfrm>
            <a:off x="6829148" y="719124"/>
            <a:ext cx="1994354" cy="4071952"/>
            <a:chOff x="3574823" y="840574"/>
            <a:chExt cx="1994354" cy="4071952"/>
          </a:xfrm>
        </p:grpSpPr>
        <p:sp>
          <p:nvSpPr>
            <p:cNvPr id="448" name="Google Shape;448;p39"/>
            <p:cNvSpPr/>
            <p:nvPr/>
          </p:nvSpPr>
          <p:spPr>
            <a:xfrm>
              <a:off x="3595856" y="840574"/>
              <a:ext cx="1952041" cy="4071952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49" name="Google Shape;449;p39"/>
            <p:cNvSpPr/>
            <p:nvPr/>
          </p:nvSpPr>
          <p:spPr>
            <a:xfrm>
              <a:off x="3652300" y="906174"/>
              <a:ext cx="1839166" cy="3940775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0" name="Google Shape;450;p39"/>
            <p:cNvSpPr/>
            <p:nvPr/>
          </p:nvSpPr>
          <p:spPr>
            <a:xfrm>
              <a:off x="4070851" y="840576"/>
              <a:ext cx="1002057" cy="230689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1" name="Google Shape;451;p39"/>
            <p:cNvSpPr/>
            <p:nvPr/>
          </p:nvSpPr>
          <p:spPr>
            <a:xfrm>
              <a:off x="3610963" y="856426"/>
              <a:ext cx="1923080" cy="4040272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2" name="Google Shape;452;p39"/>
            <p:cNvSpPr/>
            <p:nvPr/>
          </p:nvSpPr>
          <p:spPr>
            <a:xfrm>
              <a:off x="4779510" y="954685"/>
              <a:ext cx="43813" cy="42571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3" name="Google Shape;453;p39"/>
            <p:cNvSpPr/>
            <p:nvPr/>
          </p:nvSpPr>
          <p:spPr>
            <a:xfrm>
              <a:off x="4429299" y="956913"/>
              <a:ext cx="285157" cy="37868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4" name="Google Shape;454;p39"/>
            <p:cNvSpPr/>
            <p:nvPr/>
          </p:nvSpPr>
          <p:spPr>
            <a:xfrm>
              <a:off x="4530044" y="1101517"/>
              <a:ext cx="83914" cy="103457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5" name="Google Shape;455;p39"/>
            <p:cNvSpPr/>
            <p:nvPr/>
          </p:nvSpPr>
          <p:spPr>
            <a:xfrm>
              <a:off x="4512964" y="1162155"/>
              <a:ext cx="117825" cy="69301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6" name="Google Shape;456;p39"/>
            <p:cNvSpPr/>
            <p:nvPr/>
          </p:nvSpPr>
          <p:spPr>
            <a:xfrm>
              <a:off x="5191940" y="972753"/>
              <a:ext cx="75250" cy="58411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7" name="Google Shape;457;p39"/>
            <p:cNvSpPr/>
            <p:nvPr/>
          </p:nvSpPr>
          <p:spPr>
            <a:xfrm>
              <a:off x="5108275" y="981168"/>
              <a:ext cx="65596" cy="48758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8" name="Google Shape;458;p39"/>
            <p:cNvSpPr/>
            <p:nvPr/>
          </p:nvSpPr>
          <p:spPr>
            <a:xfrm>
              <a:off x="5286497" y="982405"/>
              <a:ext cx="98270" cy="47521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5491205" y="1209119"/>
              <a:ext cx="57428" cy="28216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3596606" y="1209119"/>
              <a:ext cx="55942" cy="28216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1" name="Google Shape;461;p39"/>
            <p:cNvSpPr/>
            <p:nvPr/>
          </p:nvSpPr>
          <p:spPr>
            <a:xfrm>
              <a:off x="5548384" y="1795949"/>
              <a:ext cx="20793" cy="301956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3574823" y="2067460"/>
              <a:ext cx="22030" cy="303194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3574823" y="1690265"/>
              <a:ext cx="22030" cy="303441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4" name="Google Shape;464;p39"/>
            <p:cNvSpPr/>
            <p:nvPr/>
          </p:nvSpPr>
          <p:spPr>
            <a:xfrm>
              <a:off x="3574823" y="1419991"/>
              <a:ext cx="22030" cy="94794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5491205" y="4514525"/>
              <a:ext cx="57428" cy="29453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3596606" y="4514525"/>
              <a:ext cx="55942" cy="29453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467" name="Google Shape;467;p39"/>
          <p:cNvSpPr/>
          <p:nvPr/>
        </p:nvSpPr>
        <p:spPr>
          <a:xfrm>
            <a:off x="6973112" y="1764975"/>
            <a:ext cx="794700" cy="10092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9"/>
          <p:cNvSpPr txBox="1"/>
          <p:nvPr/>
        </p:nvSpPr>
        <p:spPr>
          <a:xfrm>
            <a:off x="6973112" y="2287850"/>
            <a:ext cx="794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05</a:t>
            </a:r>
            <a:endParaRPr sz="12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69" name="Google Shape;469;p39"/>
          <p:cNvGrpSpPr/>
          <p:nvPr/>
        </p:nvGrpSpPr>
        <p:grpSpPr>
          <a:xfrm>
            <a:off x="7200378" y="1967184"/>
            <a:ext cx="340168" cy="340186"/>
            <a:chOff x="1379065" y="3291711"/>
            <a:chExt cx="340168" cy="340186"/>
          </a:xfrm>
        </p:grpSpPr>
        <p:sp>
          <p:nvSpPr>
            <p:cNvPr id="470" name="Google Shape;470;p39"/>
            <p:cNvSpPr/>
            <p:nvPr/>
          </p:nvSpPr>
          <p:spPr>
            <a:xfrm>
              <a:off x="1379065" y="3291711"/>
              <a:ext cx="340168" cy="340186"/>
            </a:xfrm>
            <a:custGeom>
              <a:rect b="b" l="l" r="r" t="t"/>
              <a:pathLst>
                <a:path extrusionOk="0" h="19326" w="19325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1439547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1519269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1598991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74" name="Google Shape;474;p39"/>
          <p:cNvSpPr/>
          <p:nvPr/>
        </p:nvSpPr>
        <p:spPr>
          <a:xfrm>
            <a:off x="7859050" y="1764975"/>
            <a:ext cx="794700" cy="10092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9"/>
          <p:cNvSpPr txBox="1"/>
          <p:nvPr/>
        </p:nvSpPr>
        <p:spPr>
          <a:xfrm>
            <a:off x="7859050" y="2287850"/>
            <a:ext cx="794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06</a:t>
            </a:r>
            <a:endParaRPr sz="12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76" name="Google Shape;476;p39"/>
          <p:cNvGrpSpPr/>
          <p:nvPr/>
        </p:nvGrpSpPr>
        <p:grpSpPr>
          <a:xfrm>
            <a:off x="8086316" y="1996015"/>
            <a:ext cx="340168" cy="298978"/>
            <a:chOff x="2081650" y="2050750"/>
            <a:chExt cx="483125" cy="424625"/>
          </a:xfrm>
        </p:grpSpPr>
        <p:sp>
          <p:nvSpPr>
            <p:cNvPr id="477" name="Google Shape;477;p39"/>
            <p:cNvSpPr/>
            <p:nvPr/>
          </p:nvSpPr>
          <p:spPr>
            <a:xfrm>
              <a:off x="2081650" y="2050750"/>
              <a:ext cx="483125" cy="424625"/>
            </a:xfrm>
            <a:custGeom>
              <a:rect b="b" l="l" r="r" t="t"/>
              <a:pathLst>
                <a:path extrusionOk="0" h="16985" w="19325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2136375" y="2292025"/>
              <a:ext cx="36400" cy="41975"/>
            </a:xfrm>
            <a:custGeom>
              <a:rect b="b" l="l" r="r" t="t"/>
              <a:pathLst>
                <a:path extrusionOk="0" h="1679" w="1456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2296850" y="2220800"/>
              <a:ext cx="46075" cy="51650"/>
            </a:xfrm>
            <a:custGeom>
              <a:rect b="b" l="l" r="r" t="t"/>
              <a:pathLst>
                <a:path extrusionOk="0" h="2066" w="1843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2158650" y="2216775"/>
              <a:ext cx="47275" cy="51425"/>
            </a:xfrm>
            <a:custGeom>
              <a:rect b="b" l="l" r="r" t="t"/>
              <a:pathLst>
                <a:path extrusionOk="0" h="2057" w="1891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2426475" y="2255725"/>
              <a:ext cx="55875" cy="46900"/>
            </a:xfrm>
            <a:custGeom>
              <a:rect b="b" l="l" r="r" t="t"/>
              <a:pathLst>
                <a:path extrusionOk="0" h="1876" w="2235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2473050" y="2192325"/>
              <a:ext cx="37000" cy="41500"/>
            </a:xfrm>
            <a:custGeom>
              <a:rect b="b" l="l" r="r" t="t"/>
              <a:pathLst>
                <a:path extrusionOk="0" h="1660" w="148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83" name="Google Shape;483;p39"/>
          <p:cNvSpPr/>
          <p:nvPr/>
        </p:nvSpPr>
        <p:spPr>
          <a:xfrm>
            <a:off x="7385975" y="2917500"/>
            <a:ext cx="794700" cy="1009200"/>
          </a:xfrm>
          <a:prstGeom prst="rect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9"/>
          <p:cNvSpPr txBox="1"/>
          <p:nvPr/>
        </p:nvSpPr>
        <p:spPr>
          <a:xfrm>
            <a:off x="7385975" y="3440375"/>
            <a:ext cx="794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41B4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07</a:t>
            </a:r>
            <a:endParaRPr sz="1200">
              <a:solidFill>
                <a:srgbClr val="741B47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85" name="Google Shape;485;p39"/>
          <p:cNvSpPr/>
          <p:nvPr/>
        </p:nvSpPr>
        <p:spPr>
          <a:xfrm>
            <a:off x="7618108" y="3123683"/>
            <a:ext cx="330434" cy="316687"/>
          </a:xfrm>
          <a:custGeom>
            <a:rect b="b" l="l" r="r" t="t"/>
            <a:pathLst>
              <a:path extrusionOk="0" h="17991" w="18772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486" name="Google Shape;486;p39"/>
          <p:cNvSpPr txBox="1"/>
          <p:nvPr/>
        </p:nvSpPr>
        <p:spPr>
          <a:xfrm>
            <a:off x="327350" y="-628775"/>
            <a:ext cx="62445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ra Sans Extra Condensed Medium"/>
              <a:buAutoNum type="arabicPeriod"/>
            </a:pPr>
            <a:r>
              <a:rPr lang="en" sz="2000">
                <a:solidFill>
                  <a:srgbClr val="A7486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endParaRPr sz="2000">
              <a:solidFill>
                <a:srgbClr val="A74868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ra Sans Extra Condensed Medium"/>
              <a:buAutoNum type="arabicPeriod"/>
            </a:pPr>
            <a:r>
              <a:rPr lang="en" sz="2000">
                <a:solidFill>
                  <a:srgbClr val="7C242A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      </a:t>
            </a:r>
            <a:endParaRPr sz="2000">
              <a:solidFill>
                <a:srgbClr val="7C242A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ra Sans Extra Condensed Medium"/>
              <a:buAutoNum type="arabicPeriod"/>
            </a:pPr>
            <a:r>
              <a:t/>
            </a:r>
            <a:endParaRPr sz="2000">
              <a:solidFill>
                <a:srgbClr val="7C242A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ira Sans Extra Condensed Medium"/>
              <a:buAutoNum type="arabicPeriod"/>
            </a:pPr>
            <a:r>
              <a:t/>
            </a:r>
            <a:endParaRPr sz="20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ira Sans Extra Condensed Medium"/>
              <a:buAutoNum type="arabicPeriod"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Optimize system performance (energy, speed, user interaction). Test real-world use cases</a:t>
            </a:r>
            <a:endParaRPr sz="20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ira Sans Extra Condensed Medium"/>
              <a:buAutoNum type="arabicPeriod"/>
            </a:pPr>
            <a:r>
              <a:rPr lang="en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Document the entire process, challenges, solutions, and final performance evaluations.</a:t>
            </a:r>
            <a:endParaRPr sz="20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7C242A"/>
              </a:buClr>
              <a:buSzPts val="2000"/>
              <a:buFont typeface="Fira Sans Extra Condensed Medium"/>
              <a:buAutoNum type="arabicPeriod"/>
            </a:pPr>
            <a:r>
              <a:rPr lang="en" sz="2000">
                <a:solidFill>
                  <a:srgbClr val="7C242A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Disseminate results through publications, open-source releases, and outreach activities.</a:t>
            </a:r>
            <a:endParaRPr sz="20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40"/>
          <p:cNvGrpSpPr/>
          <p:nvPr/>
        </p:nvGrpSpPr>
        <p:grpSpPr>
          <a:xfrm rot="899960">
            <a:off x="6220593" y="178811"/>
            <a:ext cx="2344022" cy="4785879"/>
            <a:chOff x="5812139" y="178733"/>
            <a:chExt cx="2344092" cy="4786022"/>
          </a:xfrm>
        </p:grpSpPr>
        <p:sp>
          <p:nvSpPr>
            <p:cNvPr id="492" name="Google Shape;492;p40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0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0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0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0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0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D5A6BD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0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0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0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0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" name="Google Shape;512;p40"/>
          <p:cNvSpPr/>
          <p:nvPr/>
        </p:nvSpPr>
        <p:spPr>
          <a:xfrm rot="900028">
            <a:off x="6771276" y="1038589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0"/>
          <p:cNvSpPr/>
          <p:nvPr/>
        </p:nvSpPr>
        <p:spPr>
          <a:xfrm rot="900033">
            <a:off x="7227958" y="1568658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0"/>
          <p:cNvSpPr txBox="1"/>
          <p:nvPr>
            <p:ph type="ctrTitle"/>
          </p:nvPr>
        </p:nvSpPr>
        <p:spPr>
          <a:xfrm>
            <a:off x="441925" y="1629975"/>
            <a:ext cx="5572500" cy="10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300"/>
              <a:t>Thank you</a:t>
            </a:r>
            <a:endParaRPr i="1" sz="4400"/>
          </a:p>
        </p:txBody>
      </p:sp>
      <p:sp>
        <p:nvSpPr>
          <p:cNvPr id="515" name="Google Shape;515;p40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14382776" name="adj1"/>
              <a:gd fmla="val 21460693" name="adj2"/>
            </a:avLst>
          </a:prstGeom>
          <a:solidFill>
            <a:schemeClr val="accent6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0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21249271" name="adj1"/>
              <a:gd fmla="val 7379660" name="adj2"/>
            </a:avLst>
          </a:pr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0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7348780" name="adj1"/>
              <a:gd fmla="val 15975568" name="adj2"/>
            </a:avLst>
          </a:prstGeom>
          <a:solidFill>
            <a:schemeClr val="accent6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0"/>
          <p:cNvSpPr/>
          <p:nvPr/>
        </p:nvSpPr>
        <p:spPr>
          <a:xfrm rot="900028">
            <a:off x="6297948" y="2805074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9" name="Google Shape;519;p40"/>
          <p:cNvGrpSpPr/>
          <p:nvPr/>
        </p:nvGrpSpPr>
        <p:grpSpPr>
          <a:xfrm rot="899960">
            <a:off x="6502031" y="2981459"/>
            <a:ext cx="1216764" cy="1287562"/>
            <a:chOff x="4210050" y="3676650"/>
            <a:chExt cx="1216800" cy="1287600"/>
          </a:xfrm>
        </p:grpSpPr>
        <p:sp>
          <p:nvSpPr>
            <p:cNvPr id="520" name="Google Shape;520;p40"/>
            <p:cNvSpPr/>
            <p:nvPr/>
          </p:nvSpPr>
          <p:spPr>
            <a:xfrm>
              <a:off x="4210050" y="3676650"/>
              <a:ext cx="340500" cy="12876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4648200" y="4019550"/>
              <a:ext cx="340500" cy="944700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5086350" y="4362450"/>
              <a:ext cx="340500" cy="6018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hone Interface Infographics by Slidesgo">
  <a:themeElements>
    <a:clrScheme name="Simple Light">
      <a:dk1>
        <a:srgbClr val="000000"/>
      </a:dk1>
      <a:lt1>
        <a:srgbClr val="FDFDFD"/>
      </a:lt1>
      <a:dk2>
        <a:srgbClr val="B3B3B3"/>
      </a:dk2>
      <a:lt2>
        <a:srgbClr val="E4E4E4"/>
      </a:lt2>
      <a:accent1>
        <a:srgbClr val="E2555F"/>
      </a:accent1>
      <a:accent2>
        <a:srgbClr val="2F6CC0"/>
      </a:accent2>
      <a:accent3>
        <a:srgbClr val="A74868"/>
      </a:accent3>
      <a:accent4>
        <a:srgbClr val="1C3F6F"/>
      </a:accent4>
      <a:accent5>
        <a:srgbClr val="C7C3B8"/>
      </a:accent5>
      <a:accent6>
        <a:srgbClr val="FAF7E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